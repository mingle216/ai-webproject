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Override1.xml" ContentType="application/vnd.openxmlformats-officedocument.themeOverride+xml"/>
  <Override PartName="/ppt/charts/chart3.xml" ContentType="application/vnd.openxmlformats-officedocument.drawingml.chart+xml"/>
  <Override PartName="/ppt/theme/themeOverride2.xml" ContentType="application/vnd.openxmlformats-officedocument.themeOverride+xml"/>
  <Override PartName="/ppt/charts/chart4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318" r:id="rId5"/>
    <p:sldId id="319" r:id="rId6"/>
    <p:sldId id="558" r:id="rId7"/>
    <p:sldId id="559" r:id="rId8"/>
    <p:sldId id="418" r:id="rId9"/>
    <p:sldId id="316" r:id="rId10"/>
    <p:sldId id="377" r:id="rId11"/>
    <p:sldId id="556" r:id="rId12"/>
    <p:sldId id="557" r:id="rId13"/>
    <p:sldId id="422" r:id="rId14"/>
    <p:sldId id="321" r:id="rId15"/>
    <p:sldId id="378" r:id="rId16"/>
    <p:sldId id="560" r:id="rId17"/>
    <p:sldId id="322" r:id="rId18"/>
  </p:sldIdLst>
  <p:sldSz cx="9144000" cy="6858000" type="screen4x3"/>
  <p:notesSz cx="6797675" cy="9926638"/>
  <p:defaultTextStyle>
    <a:defPPr>
      <a:defRPr lang="de-DE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1919"/>
    <a:srgbClr val="0083D0"/>
    <a:srgbClr val="771372"/>
    <a:srgbClr val="72186C"/>
    <a:srgbClr val="5F4B2A"/>
    <a:srgbClr val="5F492A"/>
    <a:srgbClr val="5F49D0"/>
    <a:srgbClr val="1A79B8"/>
    <a:srgbClr val="0083FF"/>
    <a:srgbClr val="3B3C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Designformatvorlage 1 - Akz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Designformatvorlage 1 - Akz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Designformatvorlage 1 - Akz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8034E78-7F5D-4C2E-B375-FC64B27BC917}" styleName="Dunkle Formatvorlag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unkle Formatvorlage 2 - Akzent 5/Akz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Helle Formatvorlage 1 - Akz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60" autoAdjust="0"/>
    <p:restoredTop sz="93383" autoAdjust="0"/>
  </p:normalViewPr>
  <p:slideViewPr>
    <p:cSldViewPr snapToGrid="0" snapToObjects="1">
      <p:cViewPr varScale="1">
        <p:scale>
          <a:sx n="150" d="100"/>
          <a:sy n="150" d="100"/>
        </p:scale>
        <p:origin x="2420" y="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son QIAN - Liberty One (Asia) Co., Ltd" userId="f21dbea8-765c-449a-bee2-d1cf40e099f9" providerId="ADAL" clId="{BD2095FC-D466-4615-ABE9-92256C3D5819}"/>
    <pc:docChg chg="custSel modSld">
      <pc:chgData name="Alison QIAN - Liberty One (Asia) Co., Ltd" userId="f21dbea8-765c-449a-bee2-d1cf40e099f9" providerId="ADAL" clId="{BD2095FC-D466-4615-ABE9-92256C3D5819}" dt="2025-07-25T02:16:39.262" v="10" actId="1036"/>
      <pc:docMkLst>
        <pc:docMk/>
      </pc:docMkLst>
      <pc:sldChg chg="addSp delSp modSp mod">
        <pc:chgData name="Alison QIAN - Liberty One (Asia) Co., Ltd" userId="f21dbea8-765c-449a-bee2-d1cf40e099f9" providerId="ADAL" clId="{BD2095FC-D466-4615-ABE9-92256C3D5819}" dt="2025-07-25T02:16:39.262" v="10" actId="1036"/>
        <pc:sldMkLst>
          <pc:docMk/>
          <pc:sldMk cId="2956359847" sldId="559"/>
        </pc:sldMkLst>
        <pc:picChg chg="add mod">
          <ac:chgData name="Alison QIAN - Liberty One (Asia) Co., Ltd" userId="f21dbea8-765c-449a-bee2-d1cf40e099f9" providerId="ADAL" clId="{BD2095FC-D466-4615-ABE9-92256C3D5819}" dt="2025-07-25T02:16:39.262" v="10" actId="1036"/>
          <ac:picMkLst>
            <pc:docMk/>
            <pc:sldMk cId="2956359847" sldId="559"/>
            <ac:picMk id="10" creationId="{5CCDBA9A-2937-5EAE-AA32-8E740080FD88}"/>
          </ac:picMkLst>
        </pc:picChg>
      </pc:sldChg>
    </pc:docChg>
  </pc:docChgLst>
  <pc:docChgLst>
    <pc:chgData name="Alison QIAN - Liberty One (Asia) Co., Ltd" userId="f21dbea8-765c-449a-bee2-d1cf40e099f9" providerId="ADAL" clId="{ADE7B67B-460F-429A-BB7B-F611F6DFBF76}"/>
    <pc:docChg chg="modSld">
      <pc:chgData name="Alison QIAN - Liberty One (Asia) Co., Ltd" userId="f21dbea8-765c-449a-bee2-d1cf40e099f9" providerId="ADAL" clId="{ADE7B67B-460F-429A-BB7B-F611F6DFBF76}" dt="2025-08-22T07:49:49.875" v="7" actId="1076"/>
      <pc:docMkLst>
        <pc:docMk/>
      </pc:docMkLst>
      <pc:sldChg chg="modSp mod">
        <pc:chgData name="Alison QIAN - Liberty One (Asia) Co., Ltd" userId="f21dbea8-765c-449a-bee2-d1cf40e099f9" providerId="ADAL" clId="{ADE7B67B-460F-429A-BB7B-F611F6DFBF76}" dt="2025-08-22T07:49:49.875" v="7" actId="1076"/>
        <pc:sldMkLst>
          <pc:docMk/>
          <pc:sldMk cId="2956359847" sldId="559"/>
        </pc:sldMkLst>
        <pc:picChg chg="mod">
          <ac:chgData name="Alison QIAN - Liberty One (Asia) Co., Ltd" userId="f21dbea8-765c-449a-bee2-d1cf40e099f9" providerId="ADAL" clId="{ADE7B67B-460F-429A-BB7B-F611F6DFBF76}" dt="2025-08-22T07:49:37.158" v="2" actId="1076"/>
          <ac:picMkLst>
            <pc:docMk/>
            <pc:sldMk cId="2956359847" sldId="559"/>
            <ac:picMk id="10" creationId="{5CCDBA9A-2937-5EAE-AA32-8E740080FD88}"/>
          </ac:picMkLst>
        </pc:picChg>
        <pc:picChg chg="mod">
          <ac:chgData name="Alison QIAN - Liberty One (Asia) Co., Ltd" userId="f21dbea8-765c-449a-bee2-d1cf40e099f9" providerId="ADAL" clId="{ADE7B67B-460F-429A-BB7B-F611F6DFBF76}" dt="2025-08-22T07:49:44.516" v="5" actId="1076"/>
          <ac:picMkLst>
            <pc:docMk/>
            <pc:sldMk cId="2956359847" sldId="559"/>
            <ac:picMk id="12" creationId="{29BC1896-25F1-867D-F8FB-DE562FD9BD5E}"/>
          </ac:picMkLst>
        </pc:picChg>
        <pc:picChg chg="mod">
          <ac:chgData name="Alison QIAN - Liberty One (Asia) Co., Ltd" userId="f21dbea8-765c-449a-bee2-d1cf40e099f9" providerId="ADAL" clId="{ADE7B67B-460F-429A-BB7B-F611F6DFBF76}" dt="2025-08-22T07:49:39.556" v="3" actId="1076"/>
          <ac:picMkLst>
            <pc:docMk/>
            <pc:sldMk cId="2956359847" sldId="559"/>
            <ac:picMk id="16" creationId="{C6AE1940-375A-29E5-BA44-12EC4134AC0A}"/>
          </ac:picMkLst>
        </pc:picChg>
        <pc:picChg chg="mod">
          <ac:chgData name="Alison QIAN - Liberty One (Asia) Co., Ltd" userId="f21dbea8-765c-449a-bee2-d1cf40e099f9" providerId="ADAL" clId="{ADE7B67B-460F-429A-BB7B-F611F6DFBF76}" dt="2025-08-22T07:49:49.875" v="7" actId="1076"/>
          <ac:picMkLst>
            <pc:docMk/>
            <pc:sldMk cId="2956359847" sldId="559"/>
            <ac:picMk id="27" creationId="{5468816C-C50C-2F5F-50BD-F4E886F6838F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1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2.xlsx"/><Relationship Id="rId1" Type="http://schemas.openxmlformats.org/officeDocument/2006/relationships/themeOverride" Target="../theme/themeOverride2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9"/>
    </mc:Choice>
    <mc:Fallback>
      <c:style val="19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Blatt1!$B$1</c:f>
              <c:strCache>
                <c:ptCount val="1"/>
                <c:pt idx="0">
                  <c:v>Umsätze</c:v>
                </c:pt>
              </c:strCache>
            </c:strRef>
          </c:tx>
          <c:dPt>
            <c:idx val="2"/>
            <c:bubble3D val="0"/>
            <c:spPr>
              <a:solidFill>
                <a:schemeClr val="accent3">
                  <a:lumMod val="7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1-2351-45F7-826D-A9FDF41B647C}"/>
              </c:ext>
            </c:extLst>
          </c:dPt>
          <c:dPt>
            <c:idx val="3"/>
            <c:bubble3D val="0"/>
            <c:spPr>
              <a:solidFill>
                <a:schemeClr val="accent2">
                  <a:lumMod val="7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3-2351-45F7-826D-A9FDF41B647C}"/>
              </c:ext>
            </c:extLst>
          </c:dPt>
          <c:dPt>
            <c:idx val="4"/>
            <c:bubble3D val="0"/>
            <c:spPr>
              <a:solidFill>
                <a:schemeClr val="accent1">
                  <a:lumMod val="75000"/>
                </a:schemeClr>
              </a:solidFill>
            </c:spPr>
            <c:extLst>
              <c:ext xmlns:c16="http://schemas.microsoft.com/office/drawing/2014/chart" uri="{C3380CC4-5D6E-409C-BE32-E72D297353CC}">
                <c16:uniqueId val="{00000005-2351-45F7-826D-A9FDF41B647C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351-45F7-826D-A9FDF41B647C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351-45F7-826D-A9FDF41B647C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351-45F7-826D-A9FDF41B647C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351-45F7-826D-A9FDF41B647C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chemeClr val="bg1"/>
                    </a:solidFill>
                    <a:latin typeface="Century Gothic"/>
                    <a:cs typeface="Century Gothic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Blatt1!$A$2:$A$6</c:f>
              <c:strCache>
                <c:ptCount val="5"/>
                <c:pt idx="0">
                  <c:v>Bulk Carrier</c:v>
                </c:pt>
                <c:pt idx="1">
                  <c:v>ChemTanker</c:v>
                </c:pt>
                <c:pt idx="2">
                  <c:v>Container</c:v>
                </c:pt>
                <c:pt idx="3">
                  <c:v>GenCargo</c:v>
                </c:pt>
                <c:pt idx="4">
                  <c:v>MPP</c:v>
                </c:pt>
              </c:strCache>
            </c:strRef>
          </c:cat>
          <c:val>
            <c:numRef>
              <c:f>Blatt1!$B$2:$B$6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8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351-45F7-826D-A9FDF41B647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9"/>
    </mc:Choice>
    <mc:Fallback>
      <c:style val="19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Blatt1!$B$1</c:f>
              <c:strCache>
                <c:ptCount val="1"/>
                <c:pt idx="0">
                  <c:v>Umsätze</c:v>
                </c:pt>
              </c:strCache>
            </c:strRef>
          </c:tx>
          <c:spPr>
            <a:effectLst/>
          </c:spPr>
          <c:dPt>
            <c:idx val="0"/>
            <c:bubble3D val="0"/>
            <c:spPr>
              <a:solidFill>
                <a:srgbClr val="4BACC6">
                  <a:lumMod val="75000"/>
                </a:srgb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F19-4B80-9E03-88523E487CCE}"/>
              </c:ext>
            </c:extLst>
          </c:dPt>
          <c:dPt>
            <c:idx val="1"/>
            <c:bubble3D val="0"/>
            <c:spPr>
              <a:solidFill>
                <a:srgbClr val="8064A2">
                  <a:lumMod val="75000"/>
                </a:srgb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F19-4B80-9E03-88523E487CCE}"/>
              </c:ext>
            </c:extLst>
          </c:dPt>
          <c:dPt>
            <c:idx val="2"/>
            <c:bubble3D val="0"/>
            <c:spPr>
              <a:solidFill>
                <a:srgbClr val="9BBB59">
                  <a:lumMod val="75000"/>
                </a:srgb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F19-4B80-9E03-88523E487CCE}"/>
              </c:ext>
            </c:extLst>
          </c:dPt>
          <c:dPt>
            <c:idx val="3"/>
            <c:bubble3D val="0"/>
            <c:spPr>
              <a:solidFill>
                <a:srgbClr val="C0504D">
                  <a:lumMod val="75000"/>
                </a:srgb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F19-4B80-9E03-88523E487CCE}"/>
              </c:ext>
            </c:extLst>
          </c:dPt>
          <c:dPt>
            <c:idx val="4"/>
            <c:bubble3D val="0"/>
            <c:spPr>
              <a:solidFill>
                <a:srgbClr val="4F81BD">
                  <a:lumMod val="75000"/>
                </a:srgb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F19-4B80-9E03-88523E487CC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chemeClr val="bg1"/>
                    </a:solidFill>
                    <a:latin typeface="Century Gothic"/>
                    <a:cs typeface="Century Gothic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Blatt1!$A$2:$A$6</c:f>
              <c:strCache>
                <c:ptCount val="5"/>
                <c:pt idx="0">
                  <c:v>Bulk Carrier</c:v>
                </c:pt>
                <c:pt idx="1">
                  <c:v>ChemTanker</c:v>
                </c:pt>
                <c:pt idx="2">
                  <c:v>Container</c:v>
                </c:pt>
                <c:pt idx="3">
                  <c:v>GenCargo</c:v>
                </c:pt>
                <c:pt idx="4">
                  <c:v>MPP</c:v>
                </c:pt>
              </c:strCache>
            </c:strRef>
          </c:cat>
          <c:val>
            <c:numRef>
              <c:f>Blatt1!$B$2:$B$6</c:f>
              <c:numCache>
                <c:formatCode>General</c:formatCode>
                <c:ptCount val="5"/>
                <c:pt idx="2">
                  <c:v>6</c:v>
                </c:pt>
                <c:pt idx="3">
                  <c:v>9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F19-4B80-9E03-88523E487C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9"/>
    </mc:Choice>
    <mc:Fallback>
      <c:style val="19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Blatt1!$B$1</c:f>
              <c:strCache>
                <c:ptCount val="1"/>
                <c:pt idx="0">
                  <c:v>Umsätze</c:v>
                </c:pt>
              </c:strCache>
            </c:strRef>
          </c:tx>
          <c:dPt>
            <c:idx val="0"/>
            <c:bubble3D val="0"/>
            <c:spPr>
              <a:solidFill>
                <a:srgbClr val="4BACC6">
                  <a:lumMod val="75000"/>
                </a:srgbClr>
              </a:solidFill>
            </c:spPr>
            <c:extLst>
              <c:ext xmlns:c16="http://schemas.microsoft.com/office/drawing/2014/chart" uri="{C3380CC4-5D6E-409C-BE32-E72D297353CC}">
                <c16:uniqueId val="{00000001-1907-451F-AF23-AE356FE04CC6}"/>
              </c:ext>
            </c:extLst>
          </c:dPt>
          <c:dPt>
            <c:idx val="1"/>
            <c:bubble3D val="0"/>
            <c:spPr>
              <a:solidFill>
                <a:srgbClr val="8064A2">
                  <a:lumMod val="75000"/>
                </a:srgbClr>
              </a:solidFill>
            </c:spPr>
            <c:extLst>
              <c:ext xmlns:c16="http://schemas.microsoft.com/office/drawing/2014/chart" uri="{C3380CC4-5D6E-409C-BE32-E72D297353CC}">
                <c16:uniqueId val="{00000003-1907-451F-AF23-AE356FE04CC6}"/>
              </c:ext>
            </c:extLst>
          </c:dPt>
          <c:dPt>
            <c:idx val="2"/>
            <c:bubble3D val="0"/>
            <c:spPr>
              <a:solidFill>
                <a:srgbClr val="9BBB59">
                  <a:lumMod val="75000"/>
                </a:srgbClr>
              </a:solidFill>
            </c:spPr>
            <c:extLst>
              <c:ext xmlns:c16="http://schemas.microsoft.com/office/drawing/2014/chart" uri="{C3380CC4-5D6E-409C-BE32-E72D297353CC}">
                <c16:uniqueId val="{00000005-1907-451F-AF23-AE356FE04CC6}"/>
              </c:ext>
            </c:extLst>
          </c:dPt>
          <c:dPt>
            <c:idx val="3"/>
            <c:bubble3D val="0"/>
            <c:spPr>
              <a:solidFill>
                <a:srgbClr val="C0504D">
                  <a:lumMod val="75000"/>
                </a:srgbClr>
              </a:solidFill>
            </c:spPr>
            <c:extLst>
              <c:ext xmlns:c16="http://schemas.microsoft.com/office/drawing/2014/chart" uri="{C3380CC4-5D6E-409C-BE32-E72D297353CC}">
                <c16:uniqueId val="{00000007-1907-451F-AF23-AE356FE04CC6}"/>
              </c:ext>
            </c:extLst>
          </c:dPt>
          <c:dPt>
            <c:idx val="4"/>
            <c:bubble3D val="0"/>
            <c:spPr>
              <a:solidFill>
                <a:srgbClr val="4F81BD">
                  <a:lumMod val="75000"/>
                </a:srgbClr>
              </a:solidFill>
            </c:spPr>
            <c:extLst>
              <c:ext xmlns:c16="http://schemas.microsoft.com/office/drawing/2014/chart" uri="{C3380CC4-5D6E-409C-BE32-E72D297353CC}">
                <c16:uniqueId val="{00000009-1907-451F-AF23-AE356FE04CC6}"/>
              </c:ext>
            </c:extLst>
          </c:dPt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907-451F-AF23-AE356FE04CC6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907-451F-AF23-AE356FE04CC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1">
                    <a:solidFill>
                      <a:schemeClr val="bg1"/>
                    </a:solidFill>
                    <a:latin typeface="Century Gothic"/>
                    <a:cs typeface="Century Gothic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Blatt1!$A$2:$A$6</c:f>
              <c:strCache>
                <c:ptCount val="5"/>
                <c:pt idx="0">
                  <c:v>Bulk Carrier</c:v>
                </c:pt>
                <c:pt idx="1">
                  <c:v>Tanker</c:v>
                </c:pt>
                <c:pt idx="2">
                  <c:v>Container</c:v>
                </c:pt>
                <c:pt idx="3">
                  <c:v>GenCargo</c:v>
                </c:pt>
                <c:pt idx="4">
                  <c:v>MPP</c:v>
                </c:pt>
              </c:strCache>
            </c:strRef>
          </c:cat>
          <c:val>
            <c:numRef>
              <c:f>Blatt1!$B$2:$B$6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3</c:v>
                </c:pt>
                <c:pt idx="3">
                  <c:v>4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907-451F-AF23-AE356FE04C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Blatt1!$B$1</c:f>
              <c:strCache>
                <c:ptCount val="1"/>
                <c:pt idx="0">
                  <c:v>year</c:v>
                </c:pt>
              </c:strCache>
            </c:strRef>
          </c:tx>
          <c:spPr>
            <a:ln w="19050" cmpd="sng">
              <a:solidFill>
                <a:srgbClr val="0083D0"/>
              </a:solidFill>
            </a:ln>
            <a:effectLst/>
          </c:spPr>
          <c:marker>
            <c:spPr>
              <a:solidFill>
                <a:srgbClr val="0083D0"/>
              </a:solidFill>
              <a:ln w="19050" cmpd="sng">
                <a:solidFill>
                  <a:srgbClr val="0083D0"/>
                </a:solidFill>
              </a:ln>
              <a:effectLst/>
            </c:spPr>
          </c:marker>
          <c:dLbls>
            <c:dLbl>
              <c:idx val="1"/>
              <c:layout>
                <c:manualLayout>
                  <c:x val="-6.6484993368514543E-3"/>
                  <c:y val="2.51677819098740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0087-42C4-98C9-7C8F5ECB7776}"/>
                </c:ext>
              </c:extLst>
            </c:dLbl>
            <c:dLbl>
              <c:idx val="9"/>
              <c:layout>
                <c:manualLayout>
                  <c:x val="-1.6621248342128636E-2"/>
                  <c:y val="-3.020133829184886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0087-42C4-98C9-7C8F5ECB7776}"/>
                </c:ext>
              </c:extLst>
            </c:dLbl>
            <c:dLbl>
              <c:idx val="10"/>
              <c:layout>
                <c:manualLayout>
                  <c:x val="-1.3296998673702909E-2"/>
                  <c:y val="-2.51677819098740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0087-42C4-98C9-7C8F5ECB7776}"/>
                </c:ext>
              </c:extLst>
            </c:dLbl>
            <c:dLbl>
              <c:idx val="11"/>
              <c:layout>
                <c:manualLayout>
                  <c:x val="-1.6621248342128636E-2"/>
                  <c:y val="-2.01342255278991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0087-42C4-98C9-7C8F5ECB7776}"/>
                </c:ext>
              </c:extLst>
            </c:dLbl>
            <c:dLbl>
              <c:idx val="12"/>
              <c:layout>
                <c:manualLayout>
                  <c:x val="-1.9945498010554483E-2"/>
                  <c:y val="-2.01342255278991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0087-42C4-98C9-7C8F5ECB777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0083D0"/>
                    </a:solidFill>
                    <a:latin typeface="Century Gothic"/>
                    <a:cs typeface="Century Gothic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Blatt1!$A$2:$A$14</c:f>
              <c:numCache>
                <c:formatCode>General</c:formatCode>
                <c:ptCount val="13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  <c:pt idx="10">
                  <c:v>2021</c:v>
                </c:pt>
                <c:pt idx="11">
                  <c:v>2022</c:v>
                </c:pt>
                <c:pt idx="12">
                  <c:v>2023</c:v>
                </c:pt>
              </c:numCache>
            </c:numRef>
          </c:cat>
          <c:val>
            <c:numRef>
              <c:f>Blatt1!$B$2:$B$14</c:f>
              <c:numCache>
                <c:formatCode>General</c:formatCode>
                <c:ptCount val="13"/>
                <c:pt idx="0">
                  <c:v>5</c:v>
                </c:pt>
                <c:pt idx="1">
                  <c:v>21</c:v>
                </c:pt>
                <c:pt idx="2">
                  <c:v>36</c:v>
                </c:pt>
                <c:pt idx="3">
                  <c:v>20</c:v>
                </c:pt>
                <c:pt idx="4">
                  <c:v>7</c:v>
                </c:pt>
                <c:pt idx="5">
                  <c:v>32</c:v>
                </c:pt>
                <c:pt idx="6">
                  <c:v>18</c:v>
                </c:pt>
                <c:pt idx="7">
                  <c:v>4</c:v>
                </c:pt>
                <c:pt idx="8">
                  <c:v>8</c:v>
                </c:pt>
                <c:pt idx="9">
                  <c:v>16</c:v>
                </c:pt>
                <c:pt idx="10">
                  <c:v>15</c:v>
                </c:pt>
                <c:pt idx="11">
                  <c:v>19</c:v>
                </c:pt>
                <c:pt idx="12">
                  <c:v>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8F5-455A-821E-6C6B58F95688}"/>
            </c:ext>
          </c:extLst>
        </c:ser>
        <c:ser>
          <c:idx val="1"/>
          <c:order val="1"/>
          <c:tx>
            <c:strRef>
              <c:f>Blatt1!$C$1</c:f>
              <c:strCache>
                <c:ptCount val="1"/>
                <c:pt idx="0">
                  <c:v>cumulated</c:v>
                </c:pt>
              </c:strCache>
            </c:strRef>
          </c:tx>
          <c:spPr>
            <a:ln w="19050" cmpd="sng">
              <a:solidFill>
                <a:srgbClr val="5F492A"/>
              </a:solidFill>
            </a:ln>
            <a:effectLst/>
          </c:spPr>
          <c:marker>
            <c:spPr>
              <a:solidFill>
                <a:srgbClr val="5F492A"/>
              </a:solidFill>
              <a:ln w="19050" cmpd="sng">
                <a:solidFill>
                  <a:srgbClr val="5F492A"/>
                </a:solidFill>
              </a:ln>
              <a:effectLst/>
            </c:spPr>
          </c:marker>
          <c:dLbls>
            <c:dLbl>
              <c:idx val="1"/>
              <c:layout>
                <c:manualLayout>
                  <c:x val="-3.3242496684257271E-3"/>
                  <c:y val="-1.006711276394959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087-42C4-98C9-7C8F5ECB7776}"/>
                </c:ext>
              </c:extLst>
            </c:dLbl>
            <c:dLbl>
              <c:idx val="2"/>
              <c:layout>
                <c:manualLayout>
                  <c:x val="-3.3242496684257575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087-42C4-98C9-7C8F5ECB7776}"/>
                </c:ext>
              </c:extLst>
            </c:dLbl>
            <c:dLbl>
              <c:idx val="3"/>
              <c:layout>
                <c:manualLayout>
                  <c:x val="-9.972749005277181E-3"/>
                  <c:y val="1.51006691459243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087-42C4-98C9-7C8F5ECB7776}"/>
                </c:ext>
              </c:extLst>
            </c:dLbl>
            <c:dLbl>
              <c:idx val="5"/>
              <c:layout>
                <c:manualLayout>
                  <c:x val="-9.972749005277181E-3"/>
                  <c:y val="1.51006691459243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087-42C4-98C9-7C8F5ECB7776}"/>
                </c:ext>
              </c:extLst>
            </c:dLbl>
            <c:dLbl>
              <c:idx val="6"/>
              <c:layout>
                <c:manualLayout>
                  <c:x val="-1.6621248342128695E-2"/>
                  <c:y val="3.02013382918487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087-42C4-98C9-7C8F5ECB7776}"/>
                </c:ext>
              </c:extLst>
            </c:dLbl>
            <c:dLbl>
              <c:idx val="7"/>
              <c:layout>
                <c:manualLayout>
                  <c:x val="-1.9945498010554483E-2"/>
                  <c:y val="3.52348946738235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087-42C4-98C9-7C8F5ECB7776}"/>
                </c:ext>
              </c:extLst>
            </c:dLbl>
            <c:dLbl>
              <c:idx val="8"/>
              <c:layout>
                <c:manualLayout>
                  <c:x val="-1.9945498010554362E-2"/>
                  <c:y val="4.026845105579836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087-42C4-98C9-7C8F5ECB7776}"/>
                </c:ext>
              </c:extLst>
            </c:dLbl>
            <c:dLbl>
              <c:idx val="9"/>
              <c:layout>
                <c:manualLayout>
                  <c:x val="-2.6593997347405817E-2"/>
                  <c:y val="3.52348946738235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087-42C4-98C9-7C8F5ECB7776}"/>
                </c:ext>
              </c:extLst>
            </c:dLbl>
            <c:dLbl>
              <c:idx val="10"/>
              <c:layout>
                <c:manualLayout>
                  <c:x val="-1.6621248342128636E-2"/>
                  <c:y val="3.52348946738235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087-42C4-98C9-7C8F5ECB7776}"/>
                </c:ext>
              </c:extLst>
            </c:dLbl>
            <c:dLbl>
              <c:idx val="11"/>
              <c:layout>
                <c:manualLayout>
                  <c:x val="-1.6621248342128636E-2"/>
                  <c:y val="4.026845105579836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087-42C4-98C9-7C8F5ECB7776}"/>
                </c:ext>
              </c:extLst>
            </c:dLbl>
            <c:dLbl>
              <c:idx val="12"/>
              <c:layout>
                <c:manualLayout>
                  <c:x val="-2.3269747678980088E-2"/>
                  <c:y val="4.026845105579836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0087-42C4-98C9-7C8F5ECB777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>
                    <a:solidFill>
                      <a:srgbClr val="5F492A"/>
                    </a:solidFill>
                    <a:latin typeface="Century Gothic"/>
                    <a:cs typeface="Century Gothic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Blatt1!$A$2:$A$14</c:f>
              <c:numCache>
                <c:formatCode>General</c:formatCode>
                <c:ptCount val="13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  <c:pt idx="9">
                  <c:v>2020</c:v>
                </c:pt>
                <c:pt idx="10">
                  <c:v>2021</c:v>
                </c:pt>
                <c:pt idx="11">
                  <c:v>2022</c:v>
                </c:pt>
                <c:pt idx="12">
                  <c:v>2023</c:v>
                </c:pt>
              </c:numCache>
            </c:numRef>
          </c:cat>
          <c:val>
            <c:numRef>
              <c:f>Blatt1!$C$2:$C$14</c:f>
              <c:numCache>
                <c:formatCode>General</c:formatCode>
                <c:ptCount val="13"/>
                <c:pt idx="0">
                  <c:v>5</c:v>
                </c:pt>
                <c:pt idx="1">
                  <c:v>26</c:v>
                </c:pt>
                <c:pt idx="2">
                  <c:v>62</c:v>
                </c:pt>
                <c:pt idx="3">
                  <c:v>82</c:v>
                </c:pt>
                <c:pt idx="4">
                  <c:v>89</c:v>
                </c:pt>
                <c:pt idx="5">
                  <c:v>121</c:v>
                </c:pt>
                <c:pt idx="6">
                  <c:v>139</c:v>
                </c:pt>
                <c:pt idx="7">
                  <c:v>143</c:v>
                </c:pt>
                <c:pt idx="8">
                  <c:v>151</c:v>
                </c:pt>
                <c:pt idx="9">
                  <c:v>151</c:v>
                </c:pt>
                <c:pt idx="10">
                  <c:v>151</c:v>
                </c:pt>
                <c:pt idx="11">
                  <c:v>155</c:v>
                </c:pt>
                <c:pt idx="12">
                  <c:v>155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8F5-455A-821E-6C6B58F956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1006208"/>
        <c:axId val="41007744"/>
      </c:lineChart>
      <c:catAx>
        <c:axId val="4100620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5F492A"/>
                </a:solidFill>
                <a:latin typeface="Century Gothic"/>
                <a:cs typeface="Century Gothic"/>
              </a:defRPr>
            </a:pPr>
            <a:endParaRPr lang="zh-CN"/>
          </a:p>
        </c:txPr>
        <c:crossAx val="41007744"/>
        <c:crosses val="autoZero"/>
        <c:auto val="1"/>
        <c:lblAlgn val="ctr"/>
        <c:lblOffset val="100"/>
        <c:noMultiLvlLbl val="0"/>
      </c:catAx>
      <c:valAx>
        <c:axId val="41007744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4100620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5F492A"/>
              </a:solidFill>
              <a:latin typeface="Century Gothic"/>
              <a:cs typeface="Century Gothic"/>
            </a:defRPr>
          </a:pPr>
          <a:endParaRPr lang="zh-CN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9689" y="0"/>
            <a:ext cx="2946400" cy="496888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98C8E6C4-FBDD-482A-B627-D0E404853DF0}" type="datetimeFigureOut">
              <a:rPr lang="de-DE" smtClean="0"/>
              <a:t>22.08.2025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2" tIns="45716" rIns="91432" bIns="45716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51" y="4714876"/>
            <a:ext cx="5438775" cy="4467225"/>
          </a:xfrm>
          <a:prstGeom prst="rect">
            <a:avLst/>
          </a:prstGeom>
        </p:spPr>
        <p:txBody>
          <a:bodyPr vert="horz" lIns="91432" tIns="45716" rIns="91432" bIns="45716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4"/>
            <a:ext cx="2946400" cy="496887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9689" y="9428164"/>
            <a:ext cx="2946400" cy="496887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79AB0DDF-E645-4E6D-8767-3C4D09307011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96196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AB0DDF-E645-4E6D-8767-3C4D09307011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16636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3863D5-F98F-4ABE-B72E-F5E76FE7EA3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5470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AB0DDF-E645-4E6D-8767-3C4D09307011}" type="slidenum">
              <a:rPr lang="de-DE" smtClean="0"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38833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AB0DDF-E645-4E6D-8767-3C4D09307011}" type="slidenum">
              <a:rPr lang="de-DE" smtClean="0"/>
              <a:t>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63465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AB0DDF-E645-4E6D-8767-3C4D09307011}" type="slidenum">
              <a:rPr lang="de-DE" smtClean="0"/>
              <a:t>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872653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AB0DDF-E645-4E6D-8767-3C4D09307011}" type="slidenum">
              <a:rPr lang="de-DE" smtClean="0"/>
              <a:t>14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02618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B4C82-5885-C14E-9D3D-E1550A61F514}" type="datetimeFigureOut">
              <a:rPr lang="de-DE" smtClean="0"/>
              <a:t>22.08.2025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B6C6D-887F-F644-A7A3-162B946AFC3D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80669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, icon&#10;&#10;Description automatically generated">
            <a:extLst>
              <a:ext uri="{FF2B5EF4-FFF2-40B4-BE49-F238E27FC236}">
                <a16:creationId xmlns:a16="http://schemas.microsoft.com/office/drawing/2014/main" id="{21C14632-59D2-0EC7-9437-1EEA81801B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75996" y="6369212"/>
            <a:ext cx="335659" cy="291524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41362"/>
          </a:xfrm>
        </p:spPr>
        <p:txBody>
          <a:bodyPr lIns="0" anchor="b">
            <a:normAutofit/>
          </a:bodyPr>
          <a:lstStyle>
            <a:lvl1pPr algn="l">
              <a:lnSpc>
                <a:spcPct val="130000"/>
              </a:lnSpc>
              <a:defRPr sz="1600">
                <a:solidFill>
                  <a:srgbClr val="0083D0"/>
                </a:solidFill>
                <a:latin typeface="Century Gothic"/>
                <a:cs typeface="Century Gothic"/>
              </a:defRPr>
            </a:lvl1pPr>
          </a:lstStyle>
          <a:p>
            <a:r>
              <a:rPr lang="en-GB" noProof="0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/>
          </a:bodyPr>
          <a:lstStyle>
            <a:lvl1pPr>
              <a:defRPr sz="1100">
                <a:solidFill>
                  <a:srgbClr val="5F492A"/>
                </a:solidFill>
                <a:latin typeface="Century Gothic"/>
                <a:cs typeface="Century Gothic"/>
              </a:defRPr>
            </a:lvl1pPr>
            <a:lvl2pPr>
              <a:defRPr sz="1100">
                <a:solidFill>
                  <a:srgbClr val="5F492A"/>
                </a:solidFill>
                <a:latin typeface="Century Gothic"/>
                <a:cs typeface="Century Gothic"/>
              </a:defRPr>
            </a:lvl2pPr>
            <a:lvl3pPr>
              <a:defRPr sz="1100">
                <a:solidFill>
                  <a:srgbClr val="5F492A"/>
                </a:solidFill>
                <a:latin typeface="Century Gothic"/>
                <a:cs typeface="Century Gothic"/>
              </a:defRPr>
            </a:lvl3pPr>
            <a:lvl4pPr>
              <a:defRPr sz="1100">
                <a:solidFill>
                  <a:srgbClr val="5F492A"/>
                </a:solidFill>
                <a:latin typeface="Century Gothic"/>
                <a:cs typeface="Century Gothic"/>
              </a:defRPr>
            </a:lvl4pPr>
            <a:lvl5pPr>
              <a:defRPr sz="1100">
                <a:solidFill>
                  <a:srgbClr val="5F492A"/>
                </a:solidFill>
                <a:latin typeface="Century Gothic"/>
                <a:cs typeface="Century Gothic"/>
              </a:defRPr>
            </a:lvl5pPr>
          </a:lstStyle>
          <a:p>
            <a:pPr lvl="0"/>
            <a:r>
              <a:rPr lang="en-GB" noProof="0"/>
              <a:t>Mastertextformat bearbeiten</a:t>
            </a:r>
          </a:p>
          <a:p>
            <a:pPr lvl="1"/>
            <a:r>
              <a:rPr lang="en-GB" noProof="0"/>
              <a:t>Zweite Ebene</a:t>
            </a:r>
          </a:p>
          <a:p>
            <a:pPr lvl="2"/>
            <a:r>
              <a:rPr lang="en-GB" noProof="0"/>
              <a:t>Dritte Ebene</a:t>
            </a:r>
          </a:p>
          <a:p>
            <a:pPr lvl="3"/>
            <a:r>
              <a:rPr lang="en-GB" noProof="0"/>
              <a:t>Vierte Ebene</a:t>
            </a:r>
          </a:p>
          <a:p>
            <a:pPr lvl="4"/>
            <a:r>
              <a:rPr lang="en-GB" noProof="0"/>
              <a:t>Fünfte Ebene</a:t>
            </a:r>
          </a:p>
        </p:txBody>
      </p:sp>
      <p:sp>
        <p:nvSpPr>
          <p:cNvPr id="8" name="Textfeld 7"/>
          <p:cNvSpPr txBox="1"/>
          <p:nvPr userDrawn="1"/>
        </p:nvSpPr>
        <p:spPr>
          <a:xfrm>
            <a:off x="457200" y="6419551"/>
            <a:ext cx="541174" cy="107722"/>
          </a:xfrm>
          <a:prstGeom prst="rect">
            <a:avLst/>
          </a:prstGeom>
          <a:noFill/>
        </p:spPr>
        <p:txBody>
          <a:bodyPr wrap="none" lIns="0" tIns="0" bIns="0" rtlCol="0">
            <a:spAutoFit/>
          </a:bodyPr>
          <a:lstStyle/>
          <a:p>
            <a:r>
              <a:rPr lang="de-DE" sz="700" dirty="0">
                <a:solidFill>
                  <a:srgbClr val="5F492A"/>
                </a:solidFill>
                <a:latin typeface="Century Gothic"/>
                <a:cs typeface="Century Gothic"/>
              </a:rPr>
              <a:t>Page  </a:t>
            </a:r>
            <a:fld id="{AC8D918E-F777-3546-957B-082C0DF52FFB}" type="slidenum">
              <a:rPr lang="de-DE" sz="700" smtClean="0">
                <a:solidFill>
                  <a:srgbClr val="5F492A"/>
                </a:solidFill>
                <a:latin typeface="Century Gothic"/>
                <a:cs typeface="Century Gothic"/>
              </a:rPr>
              <a:t>‹#›</a:t>
            </a:fld>
            <a:r>
              <a:rPr lang="de-DE" sz="700" dirty="0">
                <a:solidFill>
                  <a:srgbClr val="5F492A"/>
                </a:solidFill>
                <a:latin typeface="Century Gothic"/>
                <a:cs typeface="Century Gothic"/>
              </a:rPr>
              <a:t> </a:t>
            </a:r>
          </a:p>
        </p:txBody>
      </p:sp>
      <p:cxnSp>
        <p:nvCxnSpPr>
          <p:cNvPr id="9" name="Gerade Verbindung 8"/>
          <p:cNvCxnSpPr/>
          <p:nvPr userDrawn="1"/>
        </p:nvCxnSpPr>
        <p:spPr>
          <a:xfrm>
            <a:off x="457200" y="6298442"/>
            <a:ext cx="8229600" cy="23083"/>
          </a:xfrm>
          <a:prstGeom prst="line">
            <a:avLst/>
          </a:prstGeom>
          <a:ln w="9525" cmpd="sng">
            <a:solidFill>
              <a:srgbClr val="5F49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230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BB4C82-5885-C14E-9D3D-E1550A61F514}" type="datetimeFigureOut">
              <a:rPr lang="de-DE" smtClean="0"/>
              <a:t>22.08.2025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FB6C6D-887F-F644-A7A3-162B946AFC3D}" type="slidenum">
              <a:rPr lang="de-DE" smtClean="0"/>
              <a:t>‹#›</a:t>
            </a:fld>
            <a:endParaRPr lang="de-DE" dirty="0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B3C6E5C1-4CDC-A630-C4E1-1D64E417CD3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736774" y="136525"/>
            <a:ext cx="950026" cy="809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253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1.jpeg"/><Relationship Id="rId7" Type="http://schemas.openxmlformats.org/officeDocument/2006/relationships/image" Target="../media/image7.jp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image" Target="../media/image13.jpg"/><Relationship Id="rId4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jp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8.pn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chart" Target="../charts/chart1.xml"/><Relationship Id="rId7" Type="http://schemas.openxmlformats.org/officeDocument/2006/relationships/image" Target="../media/image29.jp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4.xml"/><Relationship Id="rId11" Type="http://schemas.openxmlformats.org/officeDocument/2006/relationships/image" Target="../media/image33.png"/><Relationship Id="rId5" Type="http://schemas.openxmlformats.org/officeDocument/2006/relationships/chart" Target="../charts/chart3.xml"/><Relationship Id="rId15" Type="http://schemas.openxmlformats.org/officeDocument/2006/relationships/image" Target="../media/image37.jpeg"/><Relationship Id="rId10" Type="http://schemas.openxmlformats.org/officeDocument/2006/relationships/image" Target="../media/image32.png"/><Relationship Id="rId4" Type="http://schemas.openxmlformats.org/officeDocument/2006/relationships/chart" Target="../charts/chart2.xml"/><Relationship Id="rId9" Type="http://schemas.openxmlformats.org/officeDocument/2006/relationships/image" Target="../media/image31.png"/><Relationship Id="rId14" Type="http://schemas.openxmlformats.org/officeDocument/2006/relationships/image" Target="../media/image3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jpg"/><Relationship Id="rId4" Type="http://schemas.openxmlformats.org/officeDocument/2006/relationships/image" Target="../media/image46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jp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jpg"/><Relationship Id="rId5" Type="http://schemas.openxmlformats.org/officeDocument/2006/relationships/image" Target="../media/image51.JPG"/><Relationship Id="rId4" Type="http://schemas.openxmlformats.org/officeDocument/2006/relationships/image" Target="../media/image50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8.png"/><Relationship Id="rId7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82D80475-08E0-478F-86F0-EA12594AC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009" y="2404349"/>
            <a:ext cx="2811221" cy="1410985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EFC51A27-F051-4C3F-BF41-496337470E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3230" y="2404349"/>
            <a:ext cx="2857542" cy="1410985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A771974B-442D-4C39-A509-4DBD21A11E75}"/>
              </a:ext>
            </a:extLst>
          </p:cNvPr>
          <p:cNvSpPr txBox="1"/>
          <p:nvPr/>
        </p:nvSpPr>
        <p:spPr>
          <a:xfrm>
            <a:off x="332009" y="4738399"/>
            <a:ext cx="5338520" cy="1031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de-DE" sz="2800" b="1" dirty="0">
                <a:solidFill>
                  <a:srgbClr val="5F492A"/>
                </a:solidFill>
                <a:latin typeface="Century Gothic"/>
                <a:cs typeface="Century Gothic"/>
              </a:rPr>
              <a:t>Liberty One </a:t>
            </a:r>
            <a:r>
              <a:rPr lang="en-US" sz="2800" b="1" dirty="0">
                <a:solidFill>
                  <a:srgbClr val="5F492A"/>
                </a:solidFill>
                <a:latin typeface="Century Gothic"/>
                <a:cs typeface="Century Gothic"/>
              </a:rPr>
              <a:t>(</a:t>
            </a:r>
            <a:r>
              <a:rPr lang="de-DE" sz="2800" b="1" dirty="0">
                <a:solidFill>
                  <a:srgbClr val="5F492A"/>
                </a:solidFill>
                <a:latin typeface="Century Gothic"/>
                <a:cs typeface="Century Gothic"/>
              </a:rPr>
              <a:t>Asia) Co., Ltd. </a:t>
            </a:r>
          </a:p>
          <a:p>
            <a:pPr>
              <a:spcAft>
                <a:spcPts val="600"/>
              </a:spcAft>
            </a:pPr>
            <a:r>
              <a:rPr lang="zh-CN" altLang="en-US" sz="2800" b="1" dirty="0">
                <a:solidFill>
                  <a:srgbClr val="5F49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entury Gothic"/>
              </a:rPr>
              <a:t>联舶威船舶管理有限公司</a:t>
            </a:r>
            <a:r>
              <a:rPr lang="de-DE" sz="2800" b="1" dirty="0">
                <a:solidFill>
                  <a:srgbClr val="5F492A"/>
                </a:solidFill>
                <a:latin typeface="Century Gothic"/>
                <a:cs typeface="Century Gothic"/>
              </a:rPr>
              <a:t> 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CD943E0-00E6-487B-9EFD-D753BBD3D72F}"/>
              </a:ext>
            </a:extLst>
          </p:cNvPr>
          <p:cNvSpPr txBox="1"/>
          <p:nvPr/>
        </p:nvSpPr>
        <p:spPr>
          <a:xfrm>
            <a:off x="2290527" y="3911014"/>
            <a:ext cx="7706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de-DE" sz="1000" i="1" dirty="0">
                <a:solidFill>
                  <a:srgbClr val="5F492A"/>
                </a:solidFill>
                <a:latin typeface="Century Gothic"/>
                <a:cs typeface="Century Gothic"/>
              </a:rPr>
              <a:t>Bremen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61C6A5B7-5CB6-40E8-A38B-ED8A59BF6873}"/>
              </a:ext>
            </a:extLst>
          </p:cNvPr>
          <p:cNvSpPr txBox="1"/>
          <p:nvPr/>
        </p:nvSpPr>
        <p:spPr>
          <a:xfrm>
            <a:off x="5384705" y="3911014"/>
            <a:ext cx="5207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de-DE" sz="1000" i="1" dirty="0">
                <a:solidFill>
                  <a:srgbClr val="5F492A"/>
                </a:solidFill>
                <a:latin typeface="Century Gothic"/>
                <a:cs typeface="Century Gothic"/>
              </a:rPr>
              <a:t>Leer 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65D4B646-E1C7-4502-9273-B074B4D673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0772" y="2402971"/>
            <a:ext cx="2826086" cy="1412363"/>
          </a:xfrm>
          <a:prstGeom prst="rect">
            <a:avLst/>
          </a:prstGeom>
        </p:spPr>
      </p:pic>
      <p:sp>
        <p:nvSpPr>
          <p:cNvPr id="37" name="Textfeld 36">
            <a:extLst>
              <a:ext uri="{FF2B5EF4-FFF2-40B4-BE49-F238E27FC236}">
                <a16:creationId xmlns:a16="http://schemas.microsoft.com/office/drawing/2014/main" id="{CD32BC8C-CC0F-4A5D-9E39-726885362A5F}"/>
              </a:ext>
            </a:extLst>
          </p:cNvPr>
          <p:cNvSpPr txBox="1"/>
          <p:nvPr/>
        </p:nvSpPr>
        <p:spPr>
          <a:xfrm>
            <a:off x="7950631" y="3911014"/>
            <a:ext cx="9418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de-DE" sz="1000" i="1" dirty="0">
                <a:solidFill>
                  <a:srgbClr val="5F492A"/>
                </a:solidFill>
                <a:latin typeface="Century Gothic"/>
                <a:cs typeface="Century Gothic"/>
              </a:rPr>
              <a:t>Shanghai</a:t>
            </a:r>
          </a:p>
        </p:txBody>
      </p:sp>
    </p:spTree>
    <p:extLst>
      <p:ext uri="{BB962C8B-B14F-4D97-AF65-F5344CB8AC3E}">
        <p14:creationId xmlns:p14="http://schemas.microsoft.com/office/powerpoint/2010/main" val="304143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ung 7"/>
          <p:cNvGrpSpPr/>
          <p:nvPr/>
        </p:nvGrpSpPr>
        <p:grpSpPr>
          <a:xfrm>
            <a:off x="3399118" y="1187824"/>
            <a:ext cx="5278156" cy="5051995"/>
            <a:chOff x="3399118" y="1187824"/>
            <a:chExt cx="5278156" cy="5051995"/>
          </a:xfrm>
        </p:grpSpPr>
        <p:sp>
          <p:nvSpPr>
            <p:cNvPr id="5" name="Rechteck 4"/>
            <p:cNvSpPr/>
            <p:nvPr/>
          </p:nvSpPr>
          <p:spPr>
            <a:xfrm>
              <a:off x="3399118" y="1187824"/>
              <a:ext cx="2517588" cy="448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6" name="Rechteck 5"/>
            <p:cNvSpPr/>
            <p:nvPr/>
          </p:nvSpPr>
          <p:spPr>
            <a:xfrm>
              <a:off x="8133415" y="6158881"/>
              <a:ext cx="543859" cy="809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43" name="Titel 1"/>
          <p:cNvSpPr txBox="1">
            <a:spLocks/>
          </p:cNvSpPr>
          <p:nvPr/>
        </p:nvSpPr>
        <p:spPr>
          <a:xfrm>
            <a:off x="19656" y="346413"/>
            <a:ext cx="7376868" cy="42471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0" tIns="45720" rIns="91440" bIns="45720" rtlCol="0" anchor="t">
            <a:noAutofit/>
          </a:bodyPr>
          <a:lstStyle>
            <a:lvl1pPr algn="l" defTabSz="4572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sz="1600" kern="1200">
                <a:solidFill>
                  <a:srgbClr val="0083D0"/>
                </a:solidFill>
                <a:latin typeface="Century Gothic"/>
                <a:ea typeface="+mn-ea"/>
                <a:cs typeface="Century Gothic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dirty="0"/>
              <a:t>LOA NEW BUT STRONG AND PROFESSIONAL </a:t>
            </a:r>
          </a:p>
        </p:txBody>
      </p:sp>
      <p:pic>
        <p:nvPicPr>
          <p:cNvPr id="67" name="Bild 7" descr="Liberty-Blue_Logo_big_RGB.jpg">
            <a:extLst>
              <a:ext uri="{FF2B5EF4-FFF2-40B4-BE49-F238E27FC236}">
                <a16:creationId xmlns:a16="http://schemas.microsoft.com/office/drawing/2014/main" id="{8C7A1AE2-9C5A-4AF3-B097-0540423A1D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138" y="2830518"/>
            <a:ext cx="1123468" cy="727671"/>
          </a:xfrm>
          <a:prstGeom prst="rect">
            <a:avLst/>
          </a:prstGeom>
        </p:spPr>
      </p:pic>
      <p:pic>
        <p:nvPicPr>
          <p:cNvPr id="71" name="Bild 4" descr="LibertyOne Logo_4c.jpg">
            <a:extLst>
              <a:ext uri="{FF2B5EF4-FFF2-40B4-BE49-F238E27FC236}">
                <a16:creationId xmlns:a16="http://schemas.microsoft.com/office/drawing/2014/main" id="{F9DA6282-A593-480A-8FF7-CF06DFEBAE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1235" y="1851868"/>
            <a:ext cx="1141407" cy="739290"/>
          </a:xfrm>
          <a:prstGeom prst="rect">
            <a:avLst/>
          </a:prstGeom>
        </p:spPr>
      </p:pic>
      <p:sp>
        <p:nvSpPr>
          <p:cNvPr id="76" name="Rechteck 75">
            <a:extLst>
              <a:ext uri="{FF2B5EF4-FFF2-40B4-BE49-F238E27FC236}">
                <a16:creationId xmlns:a16="http://schemas.microsoft.com/office/drawing/2014/main" id="{65872062-8FD7-48DA-9777-671B5CF7684A}"/>
              </a:ext>
            </a:extLst>
          </p:cNvPr>
          <p:cNvSpPr/>
          <p:nvPr/>
        </p:nvSpPr>
        <p:spPr>
          <a:xfrm>
            <a:off x="883565" y="952344"/>
            <a:ext cx="7376869" cy="6542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5F492A"/>
                </a:solidFill>
                <a:latin typeface="Century Gothic"/>
                <a:cs typeface="Century Gothic"/>
              </a:rPr>
              <a:t>- </a:t>
            </a:r>
            <a:r>
              <a:rPr lang="en-US" sz="2000" b="1" dirty="0">
                <a:solidFill>
                  <a:srgbClr val="5F492A"/>
                </a:solidFill>
                <a:latin typeface="Century Gothic"/>
              </a:rPr>
              <a:t>trustworthy</a:t>
            </a:r>
            <a:r>
              <a:rPr lang="en-US" sz="2000" b="1" dirty="0">
                <a:solidFill>
                  <a:srgbClr val="5F492A"/>
                </a:solidFill>
                <a:latin typeface="Century Gothic"/>
                <a:cs typeface="Century Gothic"/>
              </a:rPr>
              <a:t> and flexible -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07A26DF6-55A8-411A-9C43-8551C5062E6B}"/>
              </a:ext>
            </a:extLst>
          </p:cNvPr>
          <p:cNvSpPr/>
          <p:nvPr/>
        </p:nvSpPr>
        <p:spPr>
          <a:xfrm>
            <a:off x="383730" y="5736379"/>
            <a:ext cx="854836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5F4B2A"/>
                </a:solidFill>
                <a:latin typeface="Century Gothic" panose="020B0502020202020204" pitchFamily="34" charset="0"/>
              </a:rPr>
              <a:t>A team of maritime service providers to banks, investors, ship owners and managers</a:t>
            </a:r>
            <a:endParaRPr lang="en-GB" sz="1600" dirty="0">
              <a:solidFill>
                <a:srgbClr val="5F4B2A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0" name="Grafik 19">
            <a:extLst>
              <a:ext uri="{FF2B5EF4-FFF2-40B4-BE49-F238E27FC236}">
                <a16:creationId xmlns:a16="http://schemas.microsoft.com/office/drawing/2014/main" id="{EF7C822A-B552-4191-B8D6-BBED75392F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4115" y="5114502"/>
            <a:ext cx="1050393" cy="537929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03BFFF18-49DD-4A51-AF89-D6BB979FFE0B}"/>
              </a:ext>
            </a:extLst>
          </p:cNvPr>
          <p:cNvSpPr/>
          <p:nvPr/>
        </p:nvSpPr>
        <p:spPr>
          <a:xfrm>
            <a:off x="2744679" y="3001874"/>
            <a:ext cx="256452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Century Gothic" panose="020B0502020202020204" pitchFamily="34" charset="0"/>
              </a:rPr>
              <a:t>Liberty One (Asia) Co., Ltd. </a:t>
            </a:r>
            <a:endParaRPr lang="zh-CN" altLang="en-US" sz="1400" b="1" dirty="0">
              <a:latin typeface="Century Gothic" panose="020B0502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5C3D23D-B93E-4716-A462-A794A7511BA5}"/>
              </a:ext>
            </a:extLst>
          </p:cNvPr>
          <p:cNvSpPr txBox="1"/>
          <p:nvPr/>
        </p:nvSpPr>
        <p:spPr>
          <a:xfrm>
            <a:off x="2911147" y="3440728"/>
            <a:ext cx="21406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solidFill>
                  <a:srgbClr val="5F492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entury Gothic"/>
              </a:rPr>
              <a:t>联舶威船舶管理有限公司</a:t>
            </a:r>
            <a:endParaRPr lang="en-US" altLang="zh-CN" sz="1400" b="1" dirty="0">
              <a:solidFill>
                <a:srgbClr val="5F492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entury Gothic"/>
            </a:endParaRPr>
          </a:p>
        </p:txBody>
      </p:sp>
      <p:sp>
        <p:nvSpPr>
          <p:cNvPr id="40" name="Rechteck 10">
            <a:extLst>
              <a:ext uri="{FF2B5EF4-FFF2-40B4-BE49-F238E27FC236}">
                <a16:creationId xmlns:a16="http://schemas.microsoft.com/office/drawing/2014/main" id="{CBACB3B8-A82E-42FC-A389-B1BC07CCC9F5}"/>
              </a:ext>
            </a:extLst>
          </p:cNvPr>
          <p:cNvSpPr/>
          <p:nvPr/>
        </p:nvSpPr>
        <p:spPr>
          <a:xfrm>
            <a:off x="5538433" y="2259790"/>
            <a:ext cx="3268709" cy="329674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sz="900" b="1" dirty="0">
                <a:solidFill>
                  <a:srgbClr val="5F492A"/>
                </a:solidFill>
                <a:latin typeface="Century Gothic"/>
                <a:cs typeface="Century Gothic"/>
              </a:rPr>
              <a:t>Liberty One  Asia  </a:t>
            </a: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is a joint venture maritime service provider between Liberty Group in Leer and Maritime </a:t>
            </a:r>
            <a:r>
              <a:rPr lang="en-US" altLang="zh-CN" sz="900" dirty="0">
                <a:solidFill>
                  <a:srgbClr val="5F492A"/>
                </a:solidFill>
                <a:latin typeface="Century Gothic"/>
                <a:cs typeface="Century Gothic"/>
              </a:rPr>
              <a:t>Risk Manage Group in Hongkong, </a:t>
            </a: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to service banks and investors in China.</a:t>
            </a:r>
            <a:endParaRPr lang="en-US" sz="500" dirty="0">
              <a:solidFill>
                <a:srgbClr val="5F492A"/>
              </a:solidFill>
              <a:latin typeface="Century Gothic"/>
              <a:cs typeface="Century Gothic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Service profile: Financing, Restructuring, Insolvencies, Loan Portfolios, Inspections, technical Supervision, Newbuilding, Insurance, Software</a:t>
            </a:r>
            <a:endParaRPr lang="en-US" sz="500" dirty="0">
              <a:solidFill>
                <a:srgbClr val="5F492A"/>
              </a:solidFill>
              <a:latin typeface="Century Gothic"/>
              <a:cs typeface="Century Gothic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Core competencies: all-encompassing maritime and financial know-how, consultancy service to banks and investors</a:t>
            </a: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Managed maritime assets since 2019 establishment:          &gt; USD 100 mill.</a:t>
            </a:r>
            <a:endParaRPr lang="en-US" sz="500" dirty="0">
              <a:solidFill>
                <a:srgbClr val="5F492A"/>
              </a:solidFill>
              <a:latin typeface="Century Gothic"/>
              <a:cs typeface="Century Gothic"/>
            </a:endParaRPr>
          </a:p>
          <a:p>
            <a:pPr marL="171450" indent="-171450">
              <a:lnSpc>
                <a:spcPct val="150000"/>
              </a:lnSpc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Managed ships since establishment: &gt; 10 (Bulkers, Multi-Purpose, Container Vessels)</a:t>
            </a:r>
            <a:endParaRPr lang="en-US" sz="500" dirty="0">
              <a:solidFill>
                <a:srgbClr val="5F492A"/>
              </a:solidFill>
              <a:latin typeface="Century Gothic"/>
              <a:cs typeface="Century Gothic"/>
            </a:endParaRPr>
          </a:p>
        </p:txBody>
      </p:sp>
      <p:pic>
        <p:nvPicPr>
          <p:cNvPr id="1026" name="Picture 2" descr="Liberty Pier">
            <a:extLst>
              <a:ext uri="{FF2B5EF4-FFF2-40B4-BE49-F238E27FC236}">
                <a16:creationId xmlns:a16="http://schemas.microsoft.com/office/drawing/2014/main" id="{E0D7F290-B7DA-44A5-B08D-94623A6D1F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213" y="4010442"/>
            <a:ext cx="1055491" cy="654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394672EF-9879-69F4-912C-90C01D63B8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9118" y="1851868"/>
            <a:ext cx="1195128" cy="1018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736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ung 7"/>
          <p:cNvGrpSpPr/>
          <p:nvPr/>
        </p:nvGrpSpPr>
        <p:grpSpPr>
          <a:xfrm>
            <a:off x="3399118" y="1187824"/>
            <a:ext cx="5278156" cy="5051995"/>
            <a:chOff x="3399118" y="1187824"/>
            <a:chExt cx="5278156" cy="5051995"/>
          </a:xfrm>
        </p:grpSpPr>
        <p:sp>
          <p:nvSpPr>
            <p:cNvPr id="5" name="Rechteck 4"/>
            <p:cNvSpPr/>
            <p:nvPr/>
          </p:nvSpPr>
          <p:spPr>
            <a:xfrm>
              <a:off x="3399118" y="1187824"/>
              <a:ext cx="2517588" cy="448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6" name="Rechteck 5"/>
            <p:cNvSpPr/>
            <p:nvPr/>
          </p:nvSpPr>
          <p:spPr>
            <a:xfrm>
              <a:off x="8133415" y="6158881"/>
              <a:ext cx="543859" cy="809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43" name="Titel 1"/>
          <p:cNvSpPr txBox="1">
            <a:spLocks/>
          </p:cNvSpPr>
          <p:nvPr/>
        </p:nvSpPr>
        <p:spPr>
          <a:xfrm>
            <a:off x="40640" y="271009"/>
            <a:ext cx="7334968" cy="42471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0" tIns="45720" rIns="91440" bIns="45720" rtlCol="0" anchor="t">
            <a:noAutofit/>
          </a:bodyPr>
          <a:lstStyle>
            <a:lvl1pPr algn="l" defTabSz="4572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sz="1600" kern="1200">
                <a:solidFill>
                  <a:srgbClr val="0083D0"/>
                </a:solidFill>
                <a:latin typeface="Century Gothic"/>
                <a:ea typeface="+mn-ea"/>
                <a:cs typeface="Century Gothic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dirty="0"/>
              <a:t>Liberty Group Executives </a:t>
            </a:r>
          </a:p>
        </p:txBody>
      </p:sp>
      <p:grpSp>
        <p:nvGrpSpPr>
          <p:cNvPr id="42" name="Gruppierung 31">
            <a:extLst>
              <a:ext uri="{FF2B5EF4-FFF2-40B4-BE49-F238E27FC236}">
                <a16:creationId xmlns:a16="http://schemas.microsoft.com/office/drawing/2014/main" id="{845A2471-0DA5-4390-8F33-2FD8D0595093}"/>
              </a:ext>
            </a:extLst>
          </p:cNvPr>
          <p:cNvGrpSpPr/>
          <p:nvPr/>
        </p:nvGrpSpPr>
        <p:grpSpPr>
          <a:xfrm>
            <a:off x="544658" y="2672762"/>
            <a:ext cx="1822643" cy="2468397"/>
            <a:chOff x="1140679" y="1174438"/>
            <a:chExt cx="1822643" cy="2468397"/>
          </a:xfrm>
        </p:grpSpPr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28C63F17-61E7-4185-82FC-1AF3424DBBBC}"/>
                </a:ext>
              </a:extLst>
            </p:cNvPr>
            <p:cNvSpPr txBox="1"/>
            <p:nvPr/>
          </p:nvSpPr>
          <p:spPr>
            <a:xfrm>
              <a:off x="1192933" y="1174438"/>
              <a:ext cx="1629613" cy="369332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r>
                <a:rPr lang="en-US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          Dietrich Schulz </a:t>
              </a:r>
            </a:p>
            <a:p>
              <a:r>
                <a:rPr lang="en-US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(Sole shareholder/Director) </a:t>
              </a:r>
            </a:p>
          </p:txBody>
        </p:sp>
        <p:sp>
          <p:nvSpPr>
            <p:cNvPr id="46" name="Textfeld 45">
              <a:extLst>
                <a:ext uri="{FF2B5EF4-FFF2-40B4-BE49-F238E27FC236}">
                  <a16:creationId xmlns:a16="http://schemas.microsoft.com/office/drawing/2014/main" id="{6F582279-DDC7-4A1E-ACC7-304382C68893}"/>
                </a:ext>
              </a:extLst>
            </p:cNvPr>
            <p:cNvSpPr txBox="1"/>
            <p:nvPr/>
          </p:nvSpPr>
          <p:spPr>
            <a:xfrm>
              <a:off x="1140679" y="2350173"/>
              <a:ext cx="1822643" cy="1292662"/>
            </a:xfrm>
            <a:prstGeom prst="rect">
              <a:avLst/>
            </a:prstGeom>
            <a:noFill/>
          </p:spPr>
          <p:txBody>
            <a:bodyPr wrap="square" lIns="0" tIns="0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Marine Merchant</a:t>
              </a:r>
            </a:p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1963, +35 years of international shipping experience</a:t>
              </a:r>
            </a:p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Since +25 years in management positions</a:t>
              </a:r>
            </a:p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Ex Deutsche Afrika Linien (DAL), Columbia, Hartmann Reederei</a:t>
              </a:r>
            </a:p>
          </p:txBody>
        </p:sp>
      </p:grpSp>
      <p:grpSp>
        <p:nvGrpSpPr>
          <p:cNvPr id="47" name="Gruppierung 35">
            <a:extLst>
              <a:ext uri="{FF2B5EF4-FFF2-40B4-BE49-F238E27FC236}">
                <a16:creationId xmlns:a16="http://schemas.microsoft.com/office/drawing/2014/main" id="{313EF055-0E4A-488B-9E82-1EEE432991E0}"/>
              </a:ext>
            </a:extLst>
          </p:cNvPr>
          <p:cNvGrpSpPr/>
          <p:nvPr/>
        </p:nvGrpSpPr>
        <p:grpSpPr>
          <a:xfrm>
            <a:off x="2779680" y="2649481"/>
            <a:ext cx="1926400" cy="2371088"/>
            <a:chOff x="371135" y="2412581"/>
            <a:chExt cx="1926400" cy="2371088"/>
          </a:xfrm>
        </p:grpSpPr>
        <p:pic>
          <p:nvPicPr>
            <p:cNvPr id="49" name="Grafik 71" descr="Susanne Meyer">
              <a:extLst>
                <a:ext uri="{FF2B5EF4-FFF2-40B4-BE49-F238E27FC236}">
                  <a16:creationId xmlns:a16="http://schemas.microsoft.com/office/drawing/2014/main" id="{FB8AC8B4-75C3-4DA9-B46A-2C6532455729}"/>
                </a:ext>
              </a:extLst>
            </p:cNvPr>
            <p:cNvPicPr/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679" y="2764886"/>
              <a:ext cx="1227600" cy="78400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51" name="Gruppierung 37">
              <a:extLst>
                <a:ext uri="{FF2B5EF4-FFF2-40B4-BE49-F238E27FC236}">
                  <a16:creationId xmlns:a16="http://schemas.microsoft.com/office/drawing/2014/main" id="{92A84059-E1BF-484E-821C-4DEDF74A6781}"/>
                </a:ext>
              </a:extLst>
            </p:cNvPr>
            <p:cNvGrpSpPr/>
            <p:nvPr/>
          </p:nvGrpSpPr>
          <p:grpSpPr>
            <a:xfrm>
              <a:off x="371135" y="2412581"/>
              <a:ext cx="1926400" cy="2371088"/>
              <a:chOff x="371135" y="1154593"/>
              <a:chExt cx="1926400" cy="2371088"/>
            </a:xfrm>
          </p:grpSpPr>
          <p:sp>
            <p:nvSpPr>
              <p:cNvPr id="53" name="Textfeld 52">
                <a:extLst>
                  <a:ext uri="{FF2B5EF4-FFF2-40B4-BE49-F238E27FC236}">
                    <a16:creationId xmlns:a16="http://schemas.microsoft.com/office/drawing/2014/main" id="{DC0B9AD8-98DA-4ABE-82BD-668E8458DC01}"/>
                  </a:ext>
                </a:extLst>
              </p:cNvPr>
              <p:cNvSpPr txBox="1"/>
              <p:nvPr/>
            </p:nvSpPr>
            <p:spPr>
              <a:xfrm>
                <a:off x="440214" y="1154593"/>
                <a:ext cx="1562287" cy="369332"/>
              </a:xfrm>
              <a:prstGeom prst="rect">
                <a:avLst/>
              </a:prstGeom>
              <a:noFill/>
            </p:spPr>
            <p:txBody>
              <a:bodyPr wrap="none" lIns="0" rtlCol="0">
                <a:spAutoFit/>
              </a:bodyPr>
              <a:lstStyle/>
              <a:p>
                <a:r>
                  <a:rPr lang="en-US" sz="900" dirty="0">
                    <a:solidFill>
                      <a:srgbClr val="5F492A"/>
                    </a:solidFill>
                    <a:latin typeface="Century Gothic"/>
                    <a:cs typeface="Century Gothic"/>
                  </a:rPr>
                  <a:t>         Susanne Meyer</a:t>
                </a:r>
              </a:p>
              <a:p>
                <a:r>
                  <a:rPr lang="en-US" sz="900" dirty="0">
                    <a:solidFill>
                      <a:srgbClr val="5F492A"/>
                    </a:solidFill>
                    <a:latin typeface="Century Gothic"/>
                    <a:cs typeface="Century Gothic"/>
                  </a:rPr>
                  <a:t>(Director Liberty One / HR)</a:t>
                </a:r>
              </a:p>
            </p:txBody>
          </p:sp>
          <p:sp>
            <p:nvSpPr>
              <p:cNvPr id="54" name="Textfeld 53">
                <a:extLst>
                  <a:ext uri="{FF2B5EF4-FFF2-40B4-BE49-F238E27FC236}">
                    <a16:creationId xmlns:a16="http://schemas.microsoft.com/office/drawing/2014/main" id="{C3C4FFE2-D50D-4F8F-98BE-CC1447051961}"/>
                  </a:ext>
                </a:extLst>
              </p:cNvPr>
              <p:cNvSpPr txBox="1"/>
              <p:nvPr/>
            </p:nvSpPr>
            <p:spPr>
              <a:xfrm>
                <a:off x="371135" y="2371519"/>
                <a:ext cx="1926400" cy="1154162"/>
              </a:xfrm>
              <a:prstGeom prst="rect">
                <a:avLst/>
              </a:prstGeom>
              <a:noFill/>
            </p:spPr>
            <p:txBody>
              <a:bodyPr wrap="square" lIns="0" tIns="0" rtlCol="0">
                <a:spAutoFit/>
              </a:bodyPr>
              <a:lstStyle/>
              <a:p>
                <a:pPr marL="171450" indent="-171450">
                  <a:buFont typeface="Wingdings" panose="05000000000000000000" pitchFamily="2" charset="2"/>
                  <a:buChar char="ü"/>
                </a:pPr>
                <a:r>
                  <a:rPr lang="en-US" sz="900" dirty="0">
                    <a:solidFill>
                      <a:srgbClr val="5F492A"/>
                    </a:solidFill>
                    <a:latin typeface="Century Gothic"/>
                    <a:cs typeface="Century Gothic"/>
                  </a:rPr>
                  <a:t>Lawyer, Human Resources</a:t>
                </a:r>
              </a:p>
              <a:p>
                <a:pPr marL="171450" indent="-171450">
                  <a:buFont typeface="Wingdings" panose="05000000000000000000" pitchFamily="2" charset="2"/>
                  <a:buChar char="ü"/>
                </a:pPr>
                <a:r>
                  <a:rPr lang="en-US" sz="900" dirty="0">
                    <a:solidFill>
                      <a:srgbClr val="5F492A"/>
                    </a:solidFill>
                    <a:latin typeface="Century Gothic"/>
                    <a:cs typeface="Century Gothic"/>
                  </a:rPr>
                  <a:t>1959, +30 years of international shipping experience</a:t>
                </a:r>
              </a:p>
              <a:p>
                <a:pPr marL="171450" indent="-171450">
                  <a:buFont typeface="Wingdings" panose="05000000000000000000" pitchFamily="2" charset="2"/>
                  <a:buChar char="ü"/>
                </a:pPr>
                <a:r>
                  <a:rPr lang="en-US" sz="900" dirty="0">
                    <a:solidFill>
                      <a:srgbClr val="5F492A"/>
                    </a:solidFill>
                    <a:latin typeface="Century Gothic"/>
                    <a:cs typeface="Century Gothic"/>
                  </a:rPr>
                  <a:t>Since +20 years in management positions</a:t>
                </a:r>
              </a:p>
              <a:p>
                <a:pPr marL="171450" indent="-171450">
                  <a:buFont typeface="Wingdings" panose="05000000000000000000" pitchFamily="2" charset="2"/>
                  <a:buChar char="ü"/>
                </a:pPr>
                <a:r>
                  <a:rPr lang="en-US" sz="900" dirty="0">
                    <a:solidFill>
                      <a:srgbClr val="5F492A"/>
                    </a:solidFill>
                    <a:latin typeface="Century Gothic"/>
                    <a:cs typeface="Century Gothic"/>
                  </a:rPr>
                  <a:t>Ex Columbia, Dr. Peters / DS </a:t>
                </a:r>
                <a:r>
                  <a:rPr lang="en-US" sz="900" dirty="0" err="1">
                    <a:solidFill>
                      <a:srgbClr val="5F492A"/>
                    </a:solidFill>
                    <a:latin typeface="Century Gothic"/>
                    <a:cs typeface="Century Gothic"/>
                  </a:rPr>
                  <a:t>Schiffahrt</a:t>
                </a:r>
                <a:endParaRPr lang="en-US" sz="900" dirty="0">
                  <a:solidFill>
                    <a:srgbClr val="5F492A"/>
                  </a:solidFill>
                  <a:latin typeface="Century Gothic"/>
                  <a:cs typeface="Century Gothic"/>
                </a:endParaRPr>
              </a:p>
            </p:txBody>
          </p:sp>
        </p:grpSp>
      </p:grpSp>
      <p:sp>
        <p:nvSpPr>
          <p:cNvPr id="56" name="Textfeld 55">
            <a:extLst>
              <a:ext uri="{FF2B5EF4-FFF2-40B4-BE49-F238E27FC236}">
                <a16:creationId xmlns:a16="http://schemas.microsoft.com/office/drawing/2014/main" id="{F603E328-3E05-490C-A63D-50346745D5B3}"/>
              </a:ext>
            </a:extLst>
          </p:cNvPr>
          <p:cNvSpPr txBox="1"/>
          <p:nvPr/>
        </p:nvSpPr>
        <p:spPr>
          <a:xfrm>
            <a:off x="7376150" y="2669326"/>
            <a:ext cx="1338147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     Wenko Schmidt</a:t>
            </a:r>
          </a:p>
          <a:p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(Director Liberty Blue)</a:t>
            </a:r>
          </a:p>
        </p:txBody>
      </p:sp>
      <p:sp>
        <p:nvSpPr>
          <p:cNvPr id="57" name="Textfeld 56">
            <a:extLst>
              <a:ext uri="{FF2B5EF4-FFF2-40B4-BE49-F238E27FC236}">
                <a16:creationId xmlns:a16="http://schemas.microsoft.com/office/drawing/2014/main" id="{AE45FC05-72B4-44C9-ADB0-35348C7E21E0}"/>
              </a:ext>
            </a:extLst>
          </p:cNvPr>
          <p:cNvSpPr txBox="1"/>
          <p:nvPr/>
        </p:nvSpPr>
        <p:spPr>
          <a:xfrm>
            <a:off x="7173171" y="3855645"/>
            <a:ext cx="1941384" cy="1431161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Master Mariner / Marine Merchant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1981, +15 years of international shipping experience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2 years in management positions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Ex Hartmann Reederei, Nimmrich &amp; Prahm</a:t>
            </a:r>
          </a:p>
          <a:p>
            <a:endParaRPr lang="en-US" sz="900" dirty="0">
              <a:solidFill>
                <a:srgbClr val="5F492A"/>
              </a:solidFill>
              <a:latin typeface="Century Gothic"/>
              <a:cs typeface="Century Gothic"/>
            </a:endParaRPr>
          </a:p>
        </p:txBody>
      </p:sp>
      <p:sp>
        <p:nvSpPr>
          <p:cNvPr id="58" name="Textfeld 57">
            <a:extLst>
              <a:ext uri="{FF2B5EF4-FFF2-40B4-BE49-F238E27FC236}">
                <a16:creationId xmlns:a16="http://schemas.microsoft.com/office/drawing/2014/main" id="{A0988F77-1AFB-4A3F-A97A-2E5514300B71}"/>
              </a:ext>
            </a:extLst>
          </p:cNvPr>
          <p:cNvSpPr txBox="1"/>
          <p:nvPr/>
        </p:nvSpPr>
        <p:spPr>
          <a:xfrm>
            <a:off x="5148430" y="2641212"/>
            <a:ext cx="1398035" cy="369332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         Ole Bendlin</a:t>
            </a:r>
          </a:p>
          <a:p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(Director Handelshaus)</a:t>
            </a:r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B8F3F94D-A772-44BE-9C5A-0B03E36F7B64}"/>
              </a:ext>
            </a:extLst>
          </p:cNvPr>
          <p:cNvSpPr txBox="1"/>
          <p:nvPr/>
        </p:nvSpPr>
        <p:spPr>
          <a:xfrm>
            <a:off x="5005411" y="3827531"/>
            <a:ext cx="1666001" cy="1015663"/>
          </a:xfrm>
          <a:prstGeom prst="rect">
            <a:avLst/>
          </a:prstGeom>
          <a:noFill/>
        </p:spPr>
        <p:txBody>
          <a:bodyPr wrap="square" lIns="0" tIns="0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BA Shipping &amp; Chartering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1988, +10 years of international shipping experience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3 years in management positions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Ex Maersk Broker</a:t>
            </a:r>
          </a:p>
        </p:txBody>
      </p:sp>
      <p:pic>
        <p:nvPicPr>
          <p:cNvPr id="60" name="Picture 3" descr="C:\Users\PCSCHLOEMER\AppData\Local\Microsoft\Windows\Temporary Internet Files\Content.Outlook\9BX6I6C3\DSC_2943_nos.jpg">
            <a:extLst>
              <a:ext uri="{FF2B5EF4-FFF2-40B4-BE49-F238E27FC236}">
                <a16:creationId xmlns:a16="http://schemas.microsoft.com/office/drawing/2014/main" id="{90F02367-5E4C-47DE-990A-BFC5C16880AB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2075" y="3001786"/>
            <a:ext cx="1227600" cy="781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3">
            <a:extLst>
              <a:ext uri="{FF2B5EF4-FFF2-40B4-BE49-F238E27FC236}">
                <a16:creationId xmlns:a16="http://schemas.microsoft.com/office/drawing/2014/main" id="{8A274D4D-5466-4055-B741-7179CB74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1656" y="3023873"/>
            <a:ext cx="1227600" cy="7646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2" name="Grafik 61">
            <a:extLst>
              <a:ext uri="{FF2B5EF4-FFF2-40B4-BE49-F238E27FC236}">
                <a16:creationId xmlns:a16="http://schemas.microsoft.com/office/drawing/2014/main" id="{940E0484-768D-41D7-AF1F-4F01FEA332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527" y="3018813"/>
            <a:ext cx="1217161" cy="769733"/>
          </a:xfrm>
          <a:prstGeom prst="rect">
            <a:avLst/>
          </a:prstGeom>
        </p:spPr>
      </p:pic>
      <p:pic>
        <p:nvPicPr>
          <p:cNvPr id="67" name="Bild 7" descr="Liberty-Blue_Logo_big_RGB.jpg">
            <a:extLst>
              <a:ext uri="{FF2B5EF4-FFF2-40B4-BE49-F238E27FC236}">
                <a16:creationId xmlns:a16="http://schemas.microsoft.com/office/drawing/2014/main" id="{8C7A1AE2-9C5A-4AF3-B097-0540423A1D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5608" y="1720770"/>
            <a:ext cx="1123468" cy="727671"/>
          </a:xfrm>
          <a:prstGeom prst="rect">
            <a:avLst/>
          </a:prstGeom>
        </p:spPr>
      </p:pic>
      <p:pic>
        <p:nvPicPr>
          <p:cNvPr id="70" name="Bild 4" descr="LibertyOne Logo_4c.jpg">
            <a:extLst>
              <a:ext uri="{FF2B5EF4-FFF2-40B4-BE49-F238E27FC236}">
                <a16:creationId xmlns:a16="http://schemas.microsoft.com/office/drawing/2014/main" id="{A0681660-E360-42F2-8363-4C2FA3BBAAE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143" y="1717697"/>
            <a:ext cx="1123468" cy="727671"/>
          </a:xfrm>
          <a:prstGeom prst="rect">
            <a:avLst/>
          </a:prstGeom>
        </p:spPr>
      </p:pic>
      <p:pic>
        <p:nvPicPr>
          <p:cNvPr id="71" name="Bild 4" descr="LibertyOne Logo_4c.jpg">
            <a:extLst>
              <a:ext uri="{FF2B5EF4-FFF2-40B4-BE49-F238E27FC236}">
                <a16:creationId xmlns:a16="http://schemas.microsoft.com/office/drawing/2014/main" id="{F9DA6282-A593-480A-8FF7-CF06DFEBAE9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267" y="1720769"/>
            <a:ext cx="1123468" cy="727671"/>
          </a:xfrm>
          <a:prstGeom prst="rect">
            <a:avLst/>
          </a:prstGeom>
        </p:spPr>
      </p:pic>
      <p:sp>
        <p:nvSpPr>
          <p:cNvPr id="76" name="Rechteck 75">
            <a:extLst>
              <a:ext uri="{FF2B5EF4-FFF2-40B4-BE49-F238E27FC236}">
                <a16:creationId xmlns:a16="http://schemas.microsoft.com/office/drawing/2014/main" id="{65872062-8FD7-48DA-9777-671B5CF7684A}"/>
              </a:ext>
            </a:extLst>
          </p:cNvPr>
          <p:cNvSpPr/>
          <p:nvPr/>
        </p:nvSpPr>
        <p:spPr>
          <a:xfrm>
            <a:off x="906242" y="1063449"/>
            <a:ext cx="7376869" cy="6542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5F492A"/>
                </a:solidFill>
                <a:latin typeface="Century Gothic"/>
                <a:cs typeface="Century Gothic"/>
              </a:rPr>
              <a:t>- </a:t>
            </a:r>
            <a:r>
              <a:rPr lang="en-US" sz="2000" b="1" dirty="0">
                <a:solidFill>
                  <a:srgbClr val="5F492A"/>
                </a:solidFill>
                <a:latin typeface="Century Gothic"/>
              </a:rPr>
              <a:t>trustworthy</a:t>
            </a:r>
            <a:r>
              <a:rPr lang="en-US" sz="2000" b="1" dirty="0">
                <a:solidFill>
                  <a:srgbClr val="5F492A"/>
                </a:solidFill>
                <a:latin typeface="Century Gothic"/>
                <a:cs typeface="Century Gothic"/>
              </a:rPr>
              <a:t> and flexible -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07A26DF6-55A8-411A-9C43-8551C5062E6B}"/>
              </a:ext>
            </a:extLst>
          </p:cNvPr>
          <p:cNvSpPr/>
          <p:nvPr/>
        </p:nvSpPr>
        <p:spPr>
          <a:xfrm>
            <a:off x="374656" y="5480320"/>
            <a:ext cx="854836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5F4B2A"/>
                </a:solidFill>
                <a:latin typeface="Century Gothic" panose="020B0502020202020204" pitchFamily="34" charset="0"/>
              </a:rPr>
              <a:t>A team of maritime service providers to banks, investors, ship owners and managers</a:t>
            </a:r>
            <a:endParaRPr lang="en-GB" sz="1600" dirty="0">
              <a:solidFill>
                <a:srgbClr val="5F4B2A"/>
              </a:solidFill>
              <a:latin typeface="Century Gothic" panose="020B0502020202020204" pitchFamily="34" charset="0"/>
            </a:endParaRPr>
          </a:p>
        </p:txBody>
      </p:sp>
      <p:pic>
        <p:nvPicPr>
          <p:cNvPr id="28" name="Picture 2" descr="Liberty Pier">
            <a:extLst>
              <a:ext uri="{FF2B5EF4-FFF2-40B4-BE49-F238E27FC236}">
                <a16:creationId xmlns:a16="http://schemas.microsoft.com/office/drawing/2014/main" id="{88A6A146-C5BA-4FA0-9ED9-269ED0BA1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5364" y="1755490"/>
            <a:ext cx="1055491" cy="654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5938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ung 7"/>
          <p:cNvGrpSpPr/>
          <p:nvPr/>
        </p:nvGrpSpPr>
        <p:grpSpPr>
          <a:xfrm>
            <a:off x="3410608" y="1181094"/>
            <a:ext cx="5278156" cy="5051995"/>
            <a:chOff x="3399118" y="1187824"/>
            <a:chExt cx="5278156" cy="5051995"/>
          </a:xfrm>
        </p:grpSpPr>
        <p:sp>
          <p:nvSpPr>
            <p:cNvPr id="5" name="Rechteck 4"/>
            <p:cNvSpPr/>
            <p:nvPr/>
          </p:nvSpPr>
          <p:spPr>
            <a:xfrm>
              <a:off x="3399118" y="1187824"/>
              <a:ext cx="2517588" cy="448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6" name="Rechteck 5"/>
            <p:cNvSpPr/>
            <p:nvPr/>
          </p:nvSpPr>
          <p:spPr>
            <a:xfrm>
              <a:off x="8133415" y="6158881"/>
              <a:ext cx="543859" cy="809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43" name="Titel 1"/>
          <p:cNvSpPr txBox="1">
            <a:spLocks/>
          </p:cNvSpPr>
          <p:nvPr/>
        </p:nvSpPr>
        <p:spPr>
          <a:xfrm>
            <a:off x="40640" y="243339"/>
            <a:ext cx="7334968" cy="42471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0" tIns="45720" rIns="91440" bIns="45720" rtlCol="0" anchor="t">
            <a:noAutofit/>
          </a:bodyPr>
          <a:lstStyle>
            <a:lvl1pPr algn="l" defTabSz="4572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sz="1600" kern="1200">
                <a:solidFill>
                  <a:srgbClr val="0083D0"/>
                </a:solidFill>
                <a:latin typeface="Century Gothic"/>
                <a:ea typeface="+mn-ea"/>
                <a:cs typeface="Century Gothic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dirty="0"/>
              <a:t>Liberty One Asia Fleet Technical Management Team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07A26DF6-55A8-411A-9C43-8551C5062E6B}"/>
              </a:ext>
            </a:extLst>
          </p:cNvPr>
          <p:cNvSpPr/>
          <p:nvPr/>
        </p:nvSpPr>
        <p:spPr>
          <a:xfrm>
            <a:off x="374656" y="5480320"/>
            <a:ext cx="854836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rgbClr val="5F4B2A"/>
                </a:solidFill>
                <a:latin typeface="Century Gothic" panose="020B0502020202020204" pitchFamily="34" charset="0"/>
              </a:rPr>
              <a:t>A team of maritime service providers to banks, investors, ship owners and managers</a:t>
            </a:r>
            <a:endParaRPr lang="en-GB" sz="1600" dirty="0">
              <a:solidFill>
                <a:srgbClr val="5F4B2A"/>
              </a:solidFill>
              <a:latin typeface="Century Gothic" panose="020B0502020202020204" pitchFamily="34" charset="0"/>
            </a:endParaRPr>
          </a:p>
        </p:txBody>
      </p:sp>
      <p:sp>
        <p:nvSpPr>
          <p:cNvPr id="30" name="Titel 1">
            <a:extLst>
              <a:ext uri="{FF2B5EF4-FFF2-40B4-BE49-F238E27FC236}">
                <a16:creationId xmlns:a16="http://schemas.microsoft.com/office/drawing/2014/main" id="{6AF7CF3C-ADB7-4701-B5CA-0A7F97D633B5}"/>
              </a:ext>
            </a:extLst>
          </p:cNvPr>
          <p:cNvSpPr txBox="1">
            <a:spLocks/>
          </p:cNvSpPr>
          <p:nvPr/>
        </p:nvSpPr>
        <p:spPr>
          <a:xfrm>
            <a:off x="0" y="704585"/>
            <a:ext cx="7361656" cy="3795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1600" dirty="0">
                <a:solidFill>
                  <a:srgbClr val="5F4B2A"/>
                </a:solidFill>
                <a:latin typeface="Century Gothic" panose="020B0502020202020204" pitchFamily="34" charset="0"/>
              </a:rPr>
              <a:t>…taking care of your vessel assets 24hrs 7 days!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132662A-5D24-548A-26C0-E239A563D39F}"/>
              </a:ext>
            </a:extLst>
          </p:cNvPr>
          <p:cNvGrpSpPr/>
          <p:nvPr/>
        </p:nvGrpSpPr>
        <p:grpSpPr>
          <a:xfrm>
            <a:off x="4796366" y="1875521"/>
            <a:ext cx="1761066" cy="3051125"/>
            <a:chOff x="4872902" y="1804472"/>
            <a:chExt cx="1810372" cy="3051125"/>
          </a:xfrm>
        </p:grpSpPr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DC0B9AD8-98DA-4ABE-82BD-668E8458DC01}"/>
                </a:ext>
              </a:extLst>
            </p:cNvPr>
            <p:cNvSpPr txBox="1"/>
            <p:nvPr/>
          </p:nvSpPr>
          <p:spPr>
            <a:xfrm>
              <a:off x="4872902" y="1804472"/>
              <a:ext cx="1678537" cy="369332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algn="ctr"/>
              <a:r>
                <a:rPr lang="en-US" altLang="zh-CN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CE Yang Jian</a:t>
              </a:r>
            </a:p>
            <a:p>
              <a:pPr algn="ctr"/>
              <a:r>
                <a:rPr lang="en-US" altLang="zh-CN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(Procurement Manger)</a:t>
              </a:r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AE45FC05-72B4-44C9-ADB0-35348C7E21E0}"/>
                </a:ext>
              </a:extLst>
            </p:cNvPr>
            <p:cNvSpPr txBox="1"/>
            <p:nvPr/>
          </p:nvSpPr>
          <p:spPr>
            <a:xfrm>
              <a:off x="4923123" y="3701435"/>
              <a:ext cx="1760151" cy="1154162"/>
            </a:xfrm>
            <a:prstGeom prst="rect">
              <a:avLst/>
            </a:prstGeom>
            <a:noFill/>
          </p:spPr>
          <p:txBody>
            <a:bodyPr wrap="square" lIns="0" tIns="0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Marine Engineer</a:t>
              </a:r>
            </a:p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12 years of international shipping experience</a:t>
              </a:r>
            </a:p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zh-CN" sz="900" dirty="0">
                  <a:solidFill>
                    <a:srgbClr val="5F492A"/>
                  </a:solidFill>
                  <a:latin typeface="Century Gothic"/>
                </a:rPr>
                <a:t>supervisor of Newbuilding </a:t>
              </a:r>
            </a:p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zh-CN" sz="900" dirty="0">
                  <a:solidFill>
                    <a:srgbClr val="5F492A"/>
                  </a:solidFill>
                  <a:latin typeface="Century Gothic"/>
                </a:rPr>
                <a:t>Comprehension of PSC, FSC and class regulation &amp; legislation</a:t>
              </a:r>
            </a:p>
            <a:p>
              <a:endParaRPr lang="en-US" sz="900" dirty="0">
                <a:solidFill>
                  <a:srgbClr val="5F492A"/>
                </a:solidFill>
                <a:latin typeface="Century Gothic"/>
                <a:cs typeface="Century Gothic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AC7B81E9-1D9F-CA35-BA77-A1ABC84BC2E3}"/>
              </a:ext>
            </a:extLst>
          </p:cNvPr>
          <p:cNvGrpSpPr/>
          <p:nvPr/>
        </p:nvGrpSpPr>
        <p:grpSpPr>
          <a:xfrm>
            <a:off x="6655211" y="1875521"/>
            <a:ext cx="1793757" cy="2813412"/>
            <a:chOff x="6957411" y="1765186"/>
            <a:chExt cx="1793757" cy="2813412"/>
          </a:xfrm>
        </p:grpSpPr>
        <p:sp>
          <p:nvSpPr>
            <p:cNvPr id="56" name="Textfeld 55">
              <a:extLst>
                <a:ext uri="{FF2B5EF4-FFF2-40B4-BE49-F238E27FC236}">
                  <a16:creationId xmlns:a16="http://schemas.microsoft.com/office/drawing/2014/main" id="{F603E328-3E05-490C-A63D-50346745D5B3}"/>
                </a:ext>
              </a:extLst>
            </p:cNvPr>
            <p:cNvSpPr txBox="1"/>
            <p:nvPr/>
          </p:nvSpPr>
          <p:spPr>
            <a:xfrm>
              <a:off x="7155273" y="1765186"/>
              <a:ext cx="1398035" cy="369332"/>
            </a:xfrm>
            <a:prstGeom prst="rect">
              <a:avLst/>
            </a:prstGeom>
            <a:noFill/>
          </p:spPr>
          <p:txBody>
            <a:bodyPr wrap="square" lIns="0" rtlCol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CE</a:t>
              </a:r>
              <a:r>
                <a:rPr lang="en-US" altLang="zh-CN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 Ni Xiaohu</a:t>
              </a:r>
              <a:endParaRPr lang="en-US" sz="900" dirty="0">
                <a:solidFill>
                  <a:srgbClr val="5F492A"/>
                </a:solidFill>
                <a:latin typeface="Century Gothic"/>
                <a:cs typeface="Century Gothic"/>
              </a:endParaRPr>
            </a:p>
            <a:p>
              <a:pPr algn="ctr"/>
              <a:r>
                <a:rPr lang="en-US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(</a:t>
              </a:r>
              <a:r>
                <a:rPr lang="en-US" altLang="zh-CN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Purchasing</a:t>
              </a:r>
              <a:r>
                <a:rPr lang="en-US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 Manger)</a:t>
              </a:r>
            </a:p>
          </p:txBody>
        </p:sp>
        <p:sp>
          <p:nvSpPr>
            <p:cNvPr id="13" name="Textfeld 56">
              <a:extLst>
                <a:ext uri="{FF2B5EF4-FFF2-40B4-BE49-F238E27FC236}">
                  <a16:creationId xmlns:a16="http://schemas.microsoft.com/office/drawing/2014/main" id="{0915D6CD-996F-8E52-4E02-517EE3C26C26}"/>
                </a:ext>
              </a:extLst>
            </p:cNvPr>
            <p:cNvSpPr txBox="1"/>
            <p:nvPr/>
          </p:nvSpPr>
          <p:spPr>
            <a:xfrm>
              <a:off x="6957411" y="3701435"/>
              <a:ext cx="1793757" cy="877163"/>
            </a:xfrm>
            <a:prstGeom prst="rect">
              <a:avLst/>
            </a:prstGeom>
            <a:noFill/>
          </p:spPr>
          <p:txBody>
            <a:bodyPr wrap="square" lIns="0" tIns="0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Purchasing Supervisor 2 years experience in Marine spare parts purchasing</a:t>
              </a:r>
            </a:p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zh-CN" sz="900" dirty="0">
                  <a:solidFill>
                    <a:srgbClr val="5F492A"/>
                  </a:solidFill>
                  <a:latin typeface="Century Gothic"/>
                </a:rPr>
                <a:t>Four years engineering ship engine room as Fourth Engineer</a:t>
              </a:r>
              <a:endParaRPr lang="en-US" sz="900" dirty="0">
                <a:solidFill>
                  <a:srgbClr val="5F492A"/>
                </a:solidFill>
                <a:latin typeface="Century Gothic"/>
                <a:cs typeface="Century Gothic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6C8359B-A5D7-181E-E8E7-C23A54286A96}"/>
              </a:ext>
            </a:extLst>
          </p:cNvPr>
          <p:cNvGrpSpPr>
            <a:grpSpLocks/>
          </p:cNvGrpSpPr>
          <p:nvPr/>
        </p:nvGrpSpPr>
        <p:grpSpPr>
          <a:xfrm>
            <a:off x="2797204" y="1875521"/>
            <a:ext cx="1981002" cy="3349888"/>
            <a:chOff x="1033159" y="1765186"/>
            <a:chExt cx="1981002" cy="3349888"/>
          </a:xfrm>
        </p:grpSpPr>
        <p:sp>
          <p:nvSpPr>
            <p:cNvPr id="58" name="Textfeld 57">
              <a:extLst>
                <a:ext uri="{FF2B5EF4-FFF2-40B4-BE49-F238E27FC236}">
                  <a16:creationId xmlns:a16="http://schemas.microsoft.com/office/drawing/2014/main" id="{A0988F77-1AFB-4A3F-A97A-2E5514300B71}"/>
                </a:ext>
              </a:extLst>
            </p:cNvPr>
            <p:cNvSpPr txBox="1">
              <a:spLocks/>
            </p:cNvSpPr>
            <p:nvPr/>
          </p:nvSpPr>
          <p:spPr>
            <a:xfrm>
              <a:off x="1463731" y="1765186"/>
              <a:ext cx="1119858" cy="369332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Captain XUE Bing</a:t>
              </a:r>
            </a:p>
            <a:p>
              <a:r>
                <a:rPr lang="en-US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(</a:t>
              </a:r>
              <a:r>
                <a:rPr lang="en-US" altLang="zh-CN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Marine </a:t>
              </a:r>
              <a:r>
                <a:rPr lang="en-US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Manager)</a:t>
              </a:r>
            </a:p>
          </p:txBody>
        </p: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B8F3F94D-A772-44BE-9C5A-0B03E36F7B64}"/>
                </a:ext>
              </a:extLst>
            </p:cNvPr>
            <p:cNvSpPr txBox="1">
              <a:spLocks/>
            </p:cNvSpPr>
            <p:nvPr/>
          </p:nvSpPr>
          <p:spPr>
            <a:xfrm>
              <a:off x="1033159" y="3683913"/>
              <a:ext cx="1981002" cy="1431161"/>
            </a:xfrm>
            <a:prstGeom prst="rect">
              <a:avLst/>
            </a:prstGeom>
            <a:noFill/>
          </p:spPr>
          <p:txBody>
            <a:bodyPr wrap="square" lIns="0" tIns="0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zh-CN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10 years of international shipping experience as Captain of vessel</a:t>
              </a:r>
            </a:p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zh-CN" sz="900" dirty="0">
                  <a:solidFill>
                    <a:srgbClr val="5F492A"/>
                  </a:solidFill>
                  <a:latin typeface="Century Gothic"/>
                </a:rPr>
                <a:t>7 years experience of Safety Supervision Department. </a:t>
              </a:r>
            </a:p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zh-CN" sz="900" dirty="0">
                  <a:solidFill>
                    <a:srgbClr val="5F492A"/>
                  </a:solidFill>
                  <a:latin typeface="Century Gothic"/>
                </a:rPr>
                <a:t>4 years experience as marine manager.</a:t>
              </a:r>
            </a:p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zh-CN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10 years as fleet manager in COSCO</a:t>
              </a:r>
            </a:p>
            <a:p>
              <a:pPr marL="171450" indent="-171450">
                <a:buFont typeface="Wingdings" panose="05000000000000000000" pitchFamily="2" charset="2"/>
                <a:buChar char="ü"/>
              </a:pPr>
              <a:endParaRPr lang="en-US" altLang="zh-CN" sz="900" dirty="0">
                <a:solidFill>
                  <a:srgbClr val="5F492A"/>
                </a:solidFill>
                <a:latin typeface="Century Gothic"/>
              </a:endParaRPr>
            </a:p>
          </p:txBody>
        </p:sp>
      </p:grpSp>
      <p:grpSp>
        <p:nvGrpSpPr>
          <p:cNvPr id="14" name="Group 2">
            <a:extLst>
              <a:ext uri="{FF2B5EF4-FFF2-40B4-BE49-F238E27FC236}">
                <a16:creationId xmlns:a16="http://schemas.microsoft.com/office/drawing/2014/main" id="{12202CC7-9F35-3E83-97B9-13B496C392F8}"/>
              </a:ext>
            </a:extLst>
          </p:cNvPr>
          <p:cNvGrpSpPr>
            <a:grpSpLocks/>
          </p:cNvGrpSpPr>
          <p:nvPr/>
        </p:nvGrpSpPr>
        <p:grpSpPr>
          <a:xfrm>
            <a:off x="718423" y="1856658"/>
            <a:ext cx="1981002" cy="3507250"/>
            <a:chOff x="1056550" y="1765186"/>
            <a:chExt cx="1981002" cy="3507250"/>
          </a:xfrm>
        </p:grpSpPr>
        <p:sp>
          <p:nvSpPr>
            <p:cNvPr id="17" name="Textfeld 57">
              <a:extLst>
                <a:ext uri="{FF2B5EF4-FFF2-40B4-BE49-F238E27FC236}">
                  <a16:creationId xmlns:a16="http://schemas.microsoft.com/office/drawing/2014/main" id="{58C2D7B1-105A-B2C8-75F4-34C5B9AED944}"/>
                </a:ext>
              </a:extLst>
            </p:cNvPr>
            <p:cNvSpPr txBox="1">
              <a:spLocks/>
            </p:cNvSpPr>
            <p:nvPr/>
          </p:nvSpPr>
          <p:spPr>
            <a:xfrm>
              <a:off x="1414038" y="1765186"/>
              <a:ext cx="1219245" cy="369332"/>
            </a:xfrm>
            <a:prstGeom prst="rect">
              <a:avLst/>
            </a:prstGeom>
            <a:noFill/>
          </p:spPr>
          <p:txBody>
            <a:bodyPr wrap="none" lIns="0" rtlCol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CE ZHU </a:t>
              </a:r>
              <a:r>
                <a:rPr lang="en-US" sz="900" dirty="0" err="1">
                  <a:solidFill>
                    <a:srgbClr val="5F492A"/>
                  </a:solidFill>
                  <a:latin typeface="Century Gothic"/>
                  <a:cs typeface="Century Gothic"/>
                </a:rPr>
                <a:t>G</a:t>
              </a:r>
              <a:r>
                <a:rPr lang="en-US" altLang="zh-CN" sz="900" dirty="0" err="1">
                  <a:solidFill>
                    <a:srgbClr val="5F492A"/>
                  </a:solidFill>
                  <a:latin typeface="Century Gothic"/>
                  <a:cs typeface="Century Gothic"/>
                </a:rPr>
                <a:t>ongxiang</a:t>
              </a:r>
              <a:endParaRPr lang="en-US" sz="900" dirty="0">
                <a:solidFill>
                  <a:srgbClr val="5F492A"/>
                </a:solidFill>
                <a:latin typeface="Century Gothic"/>
                <a:cs typeface="Century Gothic"/>
              </a:endParaRPr>
            </a:p>
            <a:p>
              <a:pPr algn="ctr"/>
              <a:r>
                <a:rPr lang="en-US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(</a:t>
              </a:r>
              <a:r>
                <a:rPr lang="en-US" altLang="zh-CN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General </a:t>
              </a:r>
              <a:r>
                <a:rPr lang="en-US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Manager)</a:t>
              </a:r>
            </a:p>
          </p:txBody>
        </p:sp>
        <p:sp>
          <p:nvSpPr>
            <p:cNvPr id="18" name="Textfeld 58">
              <a:extLst>
                <a:ext uri="{FF2B5EF4-FFF2-40B4-BE49-F238E27FC236}">
                  <a16:creationId xmlns:a16="http://schemas.microsoft.com/office/drawing/2014/main" id="{0576A111-4EB4-0F26-B7F2-A799056079F8}"/>
                </a:ext>
              </a:extLst>
            </p:cNvPr>
            <p:cNvSpPr txBox="1">
              <a:spLocks/>
            </p:cNvSpPr>
            <p:nvPr/>
          </p:nvSpPr>
          <p:spPr>
            <a:xfrm>
              <a:off x="1056550" y="3702776"/>
              <a:ext cx="1981002" cy="1569660"/>
            </a:xfrm>
            <a:prstGeom prst="rect">
              <a:avLst/>
            </a:prstGeom>
            <a:noFill/>
          </p:spPr>
          <p:txBody>
            <a:bodyPr wrap="square" lIns="0" tIns="0" rtlCol="0">
              <a:spAutoFit/>
            </a:bodyPr>
            <a:lstStyle/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zh-CN" sz="900" dirty="0">
                  <a:solidFill>
                    <a:srgbClr val="5F492A"/>
                  </a:solidFill>
                  <a:latin typeface="Century Gothic"/>
                </a:rPr>
                <a:t>8 years as Chief Engineer serving onboard</a:t>
              </a:r>
            </a:p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zh-CN" sz="900" dirty="0">
                  <a:solidFill>
                    <a:srgbClr val="5F492A"/>
                  </a:solidFill>
                  <a:latin typeface="Century Gothic"/>
                </a:rPr>
                <a:t>7 years experience of Technical Management as Senior Chief Engineer</a:t>
              </a:r>
            </a:p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zh-CN" sz="900" dirty="0">
                  <a:solidFill>
                    <a:srgbClr val="5F492A"/>
                  </a:solidFill>
                  <a:latin typeface="Century Gothic"/>
                </a:rPr>
                <a:t>7 years experience as Fleet Manager / Technical Managing Director / Marine Technical Superintendent </a:t>
              </a:r>
            </a:p>
            <a:p>
              <a:pPr marL="171450" indent="-171450">
                <a:buFont typeface="Wingdings" panose="05000000000000000000" pitchFamily="2" charset="2"/>
                <a:buChar char="ü"/>
              </a:pPr>
              <a:r>
                <a:rPr lang="en-US" altLang="zh-CN" sz="900" dirty="0">
                  <a:solidFill>
                    <a:srgbClr val="5F492A"/>
                  </a:solidFill>
                  <a:latin typeface="Century Gothic"/>
                </a:rPr>
                <a:t>5 years as Vice General Manager in China Shipping</a:t>
              </a:r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5468816C-C50C-2F5F-50BD-F4E886F683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14" r="7965"/>
          <a:stretch/>
        </p:blipFill>
        <p:spPr>
          <a:xfrm>
            <a:off x="6763753" y="2393726"/>
            <a:ext cx="1697888" cy="1136094"/>
          </a:xfrm>
          <a:prstGeom prst="rect">
            <a:avLst/>
          </a:prstGeom>
        </p:spPr>
      </p:pic>
      <p:pic>
        <p:nvPicPr>
          <p:cNvPr id="16" name="Picture 15" descr="A person in a suit and tie&#10;&#10;AI-generated content may be incorrect.">
            <a:extLst>
              <a:ext uri="{FF2B5EF4-FFF2-40B4-BE49-F238E27FC236}">
                <a16:creationId xmlns:a16="http://schemas.microsoft.com/office/drawing/2014/main" id="{C6AE1940-375A-29E5-BA44-12EC4134AC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172"/>
          <a:stretch>
            <a:fillRect/>
          </a:stretch>
        </p:blipFill>
        <p:spPr>
          <a:xfrm>
            <a:off x="718423" y="2398217"/>
            <a:ext cx="1768759" cy="111919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9BC1896-25F1-867D-F8FB-DE562FD9BD5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0237"/>
          <a:stretch>
            <a:fillRect/>
          </a:stretch>
        </p:blipFill>
        <p:spPr>
          <a:xfrm>
            <a:off x="4841476" y="2398045"/>
            <a:ext cx="1712214" cy="1151132"/>
          </a:xfrm>
          <a:prstGeom prst="rect">
            <a:avLst/>
          </a:prstGeom>
        </p:spPr>
      </p:pic>
      <p:pic>
        <p:nvPicPr>
          <p:cNvPr id="10" name="Picture 9" descr="A person in a suit and tie&#10;&#10;AI-generated content may be incorrect.">
            <a:extLst>
              <a:ext uri="{FF2B5EF4-FFF2-40B4-BE49-F238E27FC236}">
                <a16:creationId xmlns:a16="http://schemas.microsoft.com/office/drawing/2014/main" id="{5CCDBA9A-2937-5EAE-AA32-8E740080FD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6287" y="2413351"/>
            <a:ext cx="1889082" cy="111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359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2022" y="274638"/>
            <a:ext cx="7227660" cy="417370"/>
          </a:xfr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600"/>
              </a:spcAft>
            </a:pPr>
            <a:r>
              <a:rPr lang="en-US" dirty="0"/>
              <a:t>Liberty Group at a glance (One Stop Shopping)</a:t>
            </a:r>
          </a:p>
        </p:txBody>
      </p:sp>
      <p:grpSp>
        <p:nvGrpSpPr>
          <p:cNvPr id="3" name="Gruppierung 2"/>
          <p:cNvGrpSpPr/>
          <p:nvPr/>
        </p:nvGrpSpPr>
        <p:grpSpPr>
          <a:xfrm>
            <a:off x="259856" y="689668"/>
            <a:ext cx="4222101" cy="5058202"/>
            <a:chOff x="260030" y="1001587"/>
            <a:chExt cx="4222101" cy="1625530"/>
          </a:xfrm>
        </p:grpSpPr>
        <p:sp>
          <p:nvSpPr>
            <p:cNvPr id="11" name="Rechteck 10"/>
            <p:cNvSpPr/>
            <p:nvPr/>
          </p:nvSpPr>
          <p:spPr>
            <a:xfrm>
              <a:off x="1149487" y="1009583"/>
              <a:ext cx="3268709" cy="2324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71450" indent="-171450" algn="just">
                <a:buFont typeface="Arial"/>
                <a:buChar char="•"/>
              </a:pPr>
              <a:r>
                <a:rPr lang="en-US" sz="900" b="1" dirty="0">
                  <a:solidFill>
                    <a:srgbClr val="5F492A"/>
                  </a:solidFill>
                  <a:latin typeface="Century Gothic"/>
                  <a:cs typeface="Century Gothic"/>
                </a:rPr>
                <a:t>Liberty One </a:t>
              </a:r>
              <a:r>
                <a:rPr lang="en-US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is a maritime service provider to banks and investors (Bremen, Hamburg and Shanghai)</a:t>
              </a:r>
            </a:p>
            <a:p>
              <a:pPr marL="171450" indent="-171450" algn="just">
                <a:buFont typeface="Arial"/>
                <a:buChar char="•"/>
              </a:pPr>
              <a:endParaRPr lang="en-US" sz="500" dirty="0">
                <a:solidFill>
                  <a:srgbClr val="5F492A"/>
                </a:solidFill>
                <a:latin typeface="Century Gothic"/>
                <a:cs typeface="Century Gothic"/>
              </a:endParaRPr>
            </a:p>
            <a:p>
              <a:pPr marL="171450" indent="-171450" algn="just">
                <a:buFont typeface="Arial"/>
                <a:buChar char="•"/>
              </a:pPr>
              <a:r>
                <a:rPr lang="en-US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Service profile: Financing, Restructuring, Insolvencies, Loan Portfolios, Inspections, technical Supervision, Newbuilding, Insurance, Software</a:t>
              </a:r>
            </a:p>
            <a:p>
              <a:pPr marL="171450" indent="-171450" algn="just">
                <a:buFont typeface="Arial"/>
                <a:buChar char="•"/>
              </a:pPr>
              <a:endParaRPr lang="en-US" sz="500" dirty="0">
                <a:solidFill>
                  <a:srgbClr val="5F492A"/>
                </a:solidFill>
                <a:latin typeface="Century Gothic"/>
                <a:cs typeface="Century Gothic"/>
              </a:endParaRPr>
            </a:p>
            <a:p>
              <a:pPr marL="171450" indent="-171450" algn="just">
                <a:buFont typeface="Arial"/>
                <a:buChar char="•"/>
              </a:pPr>
              <a:r>
                <a:rPr lang="en-US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Core competencies: all-encompassing maritime and financial know-how, consultancy service to banks and investors</a:t>
              </a:r>
            </a:p>
          </p:txBody>
        </p:sp>
        <p:sp>
          <p:nvSpPr>
            <p:cNvPr id="12" name="Rechteck 11"/>
            <p:cNvSpPr/>
            <p:nvPr/>
          </p:nvSpPr>
          <p:spPr>
            <a:xfrm>
              <a:off x="1149486" y="1457975"/>
              <a:ext cx="3268710" cy="2323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71450" indent="-171450" algn="just">
                <a:buFont typeface="Arial"/>
                <a:buChar char="•"/>
              </a:pPr>
              <a:r>
                <a:rPr lang="en-US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Managed maritime assets since establishment:          &gt; EUR 600 mill.</a:t>
              </a:r>
            </a:p>
            <a:p>
              <a:pPr marL="171450" indent="-171450" algn="just">
                <a:buFont typeface="Arial"/>
                <a:buChar char="•"/>
              </a:pPr>
              <a:endParaRPr lang="en-US" sz="500" dirty="0">
                <a:solidFill>
                  <a:srgbClr val="5F492A"/>
                </a:solidFill>
                <a:latin typeface="Century Gothic"/>
                <a:cs typeface="Century Gothic"/>
              </a:endParaRPr>
            </a:p>
            <a:p>
              <a:pPr marL="171450" indent="-171450" algn="just">
                <a:buFont typeface="Arial"/>
                <a:buChar char="•"/>
              </a:pPr>
              <a:r>
                <a:rPr lang="en-US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Managed ships since establishment: &gt; 100 (Bulkers, Multi-Purpose, Container Vessels, Tankers)</a:t>
              </a:r>
            </a:p>
            <a:p>
              <a:pPr marL="171450" indent="-171450" algn="just">
                <a:buFont typeface="Arial"/>
                <a:buChar char="•"/>
              </a:pPr>
              <a:endParaRPr lang="en-US" sz="500" dirty="0">
                <a:solidFill>
                  <a:srgbClr val="5F492A"/>
                </a:solidFill>
                <a:latin typeface="Century Gothic"/>
                <a:cs typeface="Century Gothic"/>
              </a:endParaRPr>
            </a:p>
            <a:p>
              <a:pPr marL="171450" indent="-171450" algn="just">
                <a:buFont typeface="Arial"/>
                <a:buChar char="•"/>
              </a:pPr>
              <a:r>
                <a:rPr lang="en-US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Well reputed partner of banks: cooperation with &gt;10 German and multi-national banking entities </a:t>
              </a:r>
            </a:p>
          </p:txBody>
        </p:sp>
        <p:sp>
          <p:nvSpPr>
            <p:cNvPr id="13" name="Rechteck 12"/>
            <p:cNvSpPr/>
            <p:nvPr/>
          </p:nvSpPr>
          <p:spPr>
            <a:xfrm>
              <a:off x="1149486" y="2318122"/>
              <a:ext cx="3332645" cy="3089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71450" indent="-171450" algn="just">
                <a:buFont typeface="Arial"/>
                <a:buChar char="•"/>
              </a:pPr>
              <a:r>
                <a:rPr lang="en-US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Fleet of &gt; 20 vessels (Bulkers, MPP &amp; Container). Liberty Blue manages also former fleets of Reederei Buss        &amp; </a:t>
              </a:r>
              <a:r>
                <a:rPr lang="en-US" sz="900" b="1" dirty="0">
                  <a:solidFill>
                    <a:srgbClr val="5F492A"/>
                  </a:solidFill>
                  <a:latin typeface="Century Gothic"/>
                  <a:cs typeface="Century Gothic"/>
                </a:rPr>
                <a:t>Liberty One </a:t>
              </a:r>
              <a:endParaRPr lang="en-US" sz="900" dirty="0">
                <a:solidFill>
                  <a:srgbClr val="5F492A"/>
                </a:solidFill>
                <a:latin typeface="Century Gothic"/>
                <a:cs typeface="Century Gothic"/>
              </a:endParaRPr>
            </a:p>
            <a:p>
              <a:pPr marL="171450" indent="-171450" algn="just">
                <a:buFont typeface="Arial"/>
                <a:buChar char="•"/>
              </a:pPr>
              <a:endParaRPr lang="en-US" sz="500" dirty="0">
                <a:solidFill>
                  <a:srgbClr val="5F492A"/>
                </a:solidFill>
                <a:latin typeface="Century Gothic"/>
                <a:cs typeface="Century Gothic"/>
              </a:endParaRPr>
            </a:p>
            <a:p>
              <a:pPr marL="171450" indent="-171450" algn="just">
                <a:buFont typeface="Arial"/>
                <a:buChar char="•"/>
              </a:pPr>
              <a:r>
                <a:rPr lang="en-US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Employee profile: Marine Engineers, Master Mariners, Commercial Operators, Accounts &amp; Finance specialists, Safety &amp; Security experts</a:t>
              </a:r>
            </a:p>
            <a:p>
              <a:pPr marL="171450" indent="-171450" algn="just">
                <a:buFont typeface="Arial"/>
                <a:buChar char="•"/>
              </a:pPr>
              <a:endParaRPr lang="en-US" sz="500" dirty="0">
                <a:solidFill>
                  <a:srgbClr val="5F492A"/>
                </a:solidFill>
                <a:latin typeface="Century Gothic"/>
                <a:cs typeface="Century Gothic"/>
              </a:endParaRPr>
            </a:p>
            <a:p>
              <a:pPr marL="171450" indent="-171450" algn="just">
                <a:buFont typeface="Arial"/>
                <a:buChar char="•"/>
              </a:pPr>
              <a:r>
                <a:rPr lang="en-US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Currently 30 employees, many with a long history with international “blue chip” shipping companies. Fast decision-making structure</a:t>
              </a:r>
            </a:p>
            <a:p>
              <a:pPr marL="171450" indent="-171450" algn="just">
                <a:spcAft>
                  <a:spcPts val="600"/>
                </a:spcAft>
                <a:buFont typeface="Arial"/>
                <a:buChar char="•"/>
              </a:pPr>
              <a:endParaRPr lang="en-US" sz="900" dirty="0">
                <a:solidFill>
                  <a:srgbClr val="5F492A"/>
                </a:solidFill>
                <a:latin typeface="Century Gothic"/>
                <a:cs typeface="Century Gothic"/>
              </a:endParaRPr>
            </a:p>
          </p:txBody>
        </p:sp>
        <p:sp>
          <p:nvSpPr>
            <p:cNvPr id="14" name="Rechteck 13"/>
            <p:cNvSpPr/>
            <p:nvPr/>
          </p:nvSpPr>
          <p:spPr>
            <a:xfrm>
              <a:off x="1149486" y="1906311"/>
              <a:ext cx="3332645" cy="215952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71450" indent="-171450" algn="just">
                <a:buClr>
                  <a:srgbClr val="5F492A"/>
                </a:buClr>
                <a:buFont typeface="Arial"/>
                <a:buChar char="•"/>
              </a:pPr>
              <a:r>
                <a:rPr lang="en-US" sz="900" b="1" dirty="0">
                  <a:solidFill>
                    <a:srgbClr val="0083D0"/>
                  </a:solidFill>
                  <a:latin typeface="Century Gothic"/>
                  <a:cs typeface="Century Gothic"/>
                </a:rPr>
                <a:t>Liberty Blue </a:t>
              </a:r>
              <a:r>
                <a:rPr lang="en-US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is a third-party </a:t>
              </a:r>
              <a:r>
                <a:rPr lang="en-US" sz="900" dirty="0" err="1">
                  <a:solidFill>
                    <a:srgbClr val="5F492A"/>
                  </a:solidFill>
                  <a:latin typeface="Century Gothic"/>
                  <a:cs typeface="Century Gothic"/>
                </a:rPr>
                <a:t>shipmanagement</a:t>
              </a:r>
              <a:r>
                <a:rPr lang="en-US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 company  also for owned tonnage</a:t>
              </a:r>
            </a:p>
            <a:p>
              <a:pPr marL="171450" indent="-171450" algn="just">
                <a:buFont typeface="Arial"/>
                <a:buChar char="•"/>
              </a:pPr>
              <a:endParaRPr lang="en-US" sz="500" dirty="0">
                <a:solidFill>
                  <a:srgbClr val="5F492A"/>
                </a:solidFill>
                <a:latin typeface="Century Gothic"/>
                <a:cs typeface="Century Gothic"/>
              </a:endParaRPr>
            </a:p>
            <a:p>
              <a:pPr marL="171450" indent="-171450" algn="just">
                <a:buFont typeface="Arial"/>
                <a:buChar char="•"/>
              </a:pPr>
              <a:r>
                <a:rPr lang="en-US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Liberty Blue unifies highly reputated shipmanagers and ships to accelerate much needed consolidation within the industry</a:t>
              </a:r>
            </a:p>
            <a:p>
              <a:pPr marL="171450" indent="-171450" algn="just">
                <a:buFont typeface="Arial"/>
                <a:buChar char="•"/>
              </a:pPr>
              <a:endParaRPr lang="en-US" sz="500" dirty="0">
                <a:solidFill>
                  <a:srgbClr val="5F492A"/>
                </a:solidFill>
                <a:latin typeface="Century Gothic"/>
                <a:cs typeface="Century Gothic"/>
              </a:endParaRPr>
            </a:p>
            <a:p>
              <a:pPr marL="171450" indent="-171450" algn="just">
                <a:buFont typeface="Arial"/>
                <a:buChar char="•"/>
              </a:pPr>
              <a:r>
                <a:rPr lang="en-US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Core competencies: transparent fee structure, professional (real-time) reporting, crewing, maritime software-solutions</a:t>
              </a:r>
            </a:p>
          </p:txBody>
        </p:sp>
        <p:pic>
          <p:nvPicPr>
            <p:cNvPr id="4" name="Bild 3" descr="Liberty-Blue_Logo_big_RGB.jpg"/>
            <p:cNvPicPr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0030" y="1906312"/>
              <a:ext cx="795616" cy="155368"/>
            </a:xfrm>
            <a:prstGeom prst="rect">
              <a:avLst/>
            </a:prstGeom>
            <a:ln>
              <a:noFill/>
            </a:ln>
          </p:spPr>
        </p:pic>
        <p:pic>
          <p:nvPicPr>
            <p:cNvPr id="37" name="Bild 36" descr="LibertyOne Logo_4c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3521" y="1001587"/>
              <a:ext cx="788634" cy="164274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15" name="Rechteck 14"/>
          <p:cNvSpPr/>
          <p:nvPr/>
        </p:nvSpPr>
        <p:spPr>
          <a:xfrm>
            <a:off x="5369678" y="1108948"/>
            <a:ext cx="3430617" cy="239969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 algn="just">
              <a:buClr>
                <a:srgbClr val="5F492A"/>
              </a:buClr>
              <a:buFont typeface="Arial"/>
              <a:buChar char="•"/>
            </a:pPr>
            <a:r>
              <a:rPr lang="en-US" altLang="zh-CN" sz="900" b="1" dirty="0">
                <a:solidFill>
                  <a:srgbClr val="00B050"/>
                </a:solidFill>
                <a:latin typeface="Century Gothic"/>
                <a:cs typeface="Century Gothic"/>
              </a:rPr>
              <a:t>Liberty Pier</a:t>
            </a:r>
            <a:r>
              <a:rPr lang="en-US" sz="900" b="1" dirty="0">
                <a:solidFill>
                  <a:srgbClr val="5F492A"/>
                </a:solidFill>
                <a:latin typeface="Century Gothic"/>
                <a:cs typeface="Century Gothic"/>
              </a:rPr>
              <a:t>  </a:t>
            </a: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is a commercial manager and industry representative (Bremen and Leer)</a:t>
            </a:r>
          </a:p>
          <a:p>
            <a:pPr marL="171450" indent="-171450" algn="just">
              <a:buFont typeface="Arial"/>
              <a:buChar char="•"/>
            </a:pPr>
            <a:endParaRPr lang="en-US" sz="500" dirty="0">
              <a:solidFill>
                <a:srgbClr val="5F492A"/>
              </a:solidFill>
              <a:latin typeface="Century Gothic"/>
              <a:cs typeface="Century Gothic"/>
            </a:endParaRPr>
          </a:p>
          <a:p>
            <a:pPr marL="171450" indent="-171450" algn="just"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 Service profile: Ship Sale &amp; Purchase, Market Analysis, Valuations, Charter Parties, Contracts of Affreightment, Recycling, Auctions, Ship Repair, Rudder Systems, Security Personnel</a:t>
            </a:r>
          </a:p>
          <a:p>
            <a:pPr marL="171450" indent="-171450" algn="just">
              <a:buFont typeface="Arial"/>
              <a:buChar char="•"/>
            </a:pPr>
            <a:endParaRPr lang="en-US" sz="500" dirty="0">
              <a:solidFill>
                <a:srgbClr val="5F492A"/>
              </a:solidFill>
              <a:latin typeface="Century Gothic"/>
              <a:cs typeface="Century Gothic"/>
            </a:endParaRPr>
          </a:p>
          <a:p>
            <a:pPr marL="171450" indent="-171450" algn="just"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Core competencies: exclusive access to distressed-assets, (off-market) transactions, tailor-made (value improving) solutions</a:t>
            </a:r>
          </a:p>
          <a:p>
            <a:pPr marL="171450" indent="-171450" algn="just">
              <a:buFont typeface="Arial"/>
              <a:buChar char="•"/>
            </a:pPr>
            <a:endParaRPr lang="en-US" sz="500" dirty="0">
              <a:solidFill>
                <a:srgbClr val="5F492A"/>
              </a:solidFill>
              <a:latin typeface="Century Gothic"/>
              <a:cs typeface="Century Gothic"/>
            </a:endParaRPr>
          </a:p>
          <a:p>
            <a:pPr marL="171450" indent="-171450" algn="just"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Proven global network</a:t>
            </a:r>
          </a:p>
          <a:p>
            <a:pPr marL="171450" indent="-171450" algn="just">
              <a:buFont typeface="Arial"/>
              <a:buChar char="•"/>
            </a:pPr>
            <a:endParaRPr lang="en-US" sz="500" dirty="0">
              <a:solidFill>
                <a:srgbClr val="5F492A"/>
              </a:solidFill>
              <a:latin typeface="Century Gothic"/>
              <a:cs typeface="Century Gothic"/>
            </a:endParaRPr>
          </a:p>
          <a:p>
            <a:pPr marL="171450" indent="-171450" algn="just">
              <a:buFont typeface="Arial"/>
              <a:buChar char="•"/>
            </a:pPr>
            <a:r>
              <a:rPr lang="en-US" sz="900" dirty="0" err="1">
                <a:solidFill>
                  <a:srgbClr val="5F492A"/>
                </a:solidFill>
                <a:latin typeface="Century Gothic"/>
                <a:cs typeface="Century Gothic"/>
              </a:rPr>
              <a:t>Cooperations</a:t>
            </a: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 with Ship Owners, Banks, Financial Institutions, Administrators, Brokers, Shippers, Agents, Lawyers, Authorities, Shipyards, Manufacturers, Service Providers</a:t>
            </a:r>
          </a:p>
          <a:p>
            <a:pPr marL="171450" indent="-171450" algn="just">
              <a:buFont typeface="Arial"/>
              <a:buChar char="•"/>
            </a:pPr>
            <a:endParaRPr lang="en-US" sz="900" dirty="0">
              <a:solidFill>
                <a:srgbClr val="5F492A"/>
              </a:solidFill>
              <a:latin typeface="Century Gothic"/>
              <a:cs typeface="Century Gothic"/>
            </a:endParaRPr>
          </a:p>
          <a:p>
            <a:pPr marL="171450" indent="-171450" algn="just">
              <a:buFont typeface="Arial"/>
              <a:buChar char="•"/>
            </a:pPr>
            <a:endParaRPr lang="en-US" sz="900" dirty="0">
              <a:solidFill>
                <a:srgbClr val="5F492A"/>
              </a:solidFill>
              <a:latin typeface="Century Gothic"/>
              <a:cs typeface="Century Gothic"/>
            </a:endParaRPr>
          </a:p>
        </p:txBody>
      </p:sp>
      <p:pic>
        <p:nvPicPr>
          <p:cNvPr id="18" name="Grafik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4427" y="5126630"/>
            <a:ext cx="189946" cy="201045"/>
          </a:xfrm>
          <a:prstGeom prst="rect">
            <a:avLst/>
          </a:prstGeom>
        </p:spPr>
      </p:pic>
      <p:sp>
        <p:nvSpPr>
          <p:cNvPr id="19" name="Rechteck 18">
            <a:extLst>
              <a:ext uri="{FF2B5EF4-FFF2-40B4-BE49-F238E27FC236}">
                <a16:creationId xmlns:a16="http://schemas.microsoft.com/office/drawing/2014/main" id="{3BA5C603-2D3D-4076-AEED-4757F72F0687}"/>
              </a:ext>
            </a:extLst>
          </p:cNvPr>
          <p:cNvSpPr/>
          <p:nvPr/>
        </p:nvSpPr>
        <p:spPr>
          <a:xfrm>
            <a:off x="5369678" y="3504920"/>
            <a:ext cx="3332645" cy="2262896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 algn="just">
              <a:spcAft>
                <a:spcPts val="600"/>
              </a:spcAft>
              <a:buClr>
                <a:srgbClr val="5F492A"/>
              </a:buClr>
              <a:buFont typeface="Arial"/>
              <a:buChar char="•"/>
            </a:pPr>
            <a:r>
              <a:rPr lang="en-US" sz="900" b="1" dirty="0">
                <a:solidFill>
                  <a:srgbClr val="CEA202"/>
                </a:solidFill>
                <a:latin typeface="Century Gothic"/>
                <a:cs typeface="Century Gothic"/>
              </a:rPr>
              <a:t>Capital Liberty Invest (C L I)  </a:t>
            </a: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a joint venture between </a:t>
            </a:r>
            <a:r>
              <a:rPr lang="en-US" sz="900" dirty="0" err="1">
                <a:solidFill>
                  <a:srgbClr val="5F492A"/>
                </a:solidFill>
                <a:latin typeface="Century Gothic"/>
                <a:cs typeface="Century Gothic"/>
              </a:rPr>
              <a:t>Evangelos</a:t>
            </a: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 </a:t>
            </a:r>
            <a:r>
              <a:rPr lang="en-US" sz="900" dirty="0" err="1">
                <a:solidFill>
                  <a:srgbClr val="5F492A"/>
                </a:solidFill>
                <a:latin typeface="Century Gothic"/>
                <a:cs typeface="Century Gothic"/>
              </a:rPr>
              <a:t>Marinakis</a:t>
            </a: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 &amp; Dietrich Schulz, established in 2018 in order to join equity forces to invest in different shipping segments and sizes in the German and global shipping market.</a:t>
            </a:r>
          </a:p>
          <a:p>
            <a:pPr marL="171450" indent="-171450" algn="just">
              <a:spcAft>
                <a:spcPts val="600"/>
              </a:spcAft>
              <a:buClr>
                <a:srgbClr val="5F492A"/>
              </a:buClr>
              <a:buFont typeface="Arial"/>
              <a:buChar char="•"/>
            </a:pPr>
            <a:r>
              <a:rPr lang="en-US" sz="900" b="1" dirty="0">
                <a:solidFill>
                  <a:srgbClr val="CEA202"/>
                </a:solidFill>
                <a:latin typeface="Century Gothic"/>
                <a:cs typeface="Century Gothic"/>
              </a:rPr>
              <a:t>C L I </a:t>
            </a: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seeks growth opportunities in the container segment, ranging from feeder to Post-Panamax vessels, as well as in the crude and product tanker, dry bulk and multi-purposes segments </a:t>
            </a:r>
          </a:p>
          <a:p>
            <a:pPr marL="171450" indent="-171450" algn="just">
              <a:spcAft>
                <a:spcPts val="600"/>
              </a:spcAft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Cash buyers with prompt performing power </a:t>
            </a:r>
          </a:p>
          <a:p>
            <a:pPr marL="171450" indent="-171450" algn="just">
              <a:spcAft>
                <a:spcPts val="600"/>
              </a:spcAft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2 x 1.800 TEU 2</a:t>
            </a:r>
            <a:r>
              <a:rPr lang="en-US" sz="900" baseline="30000" dirty="0">
                <a:solidFill>
                  <a:srgbClr val="5F492A"/>
                </a:solidFill>
                <a:latin typeface="Century Gothic"/>
                <a:cs typeface="Century Gothic"/>
              </a:rPr>
              <a:t>nd</a:t>
            </a: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 hand feeder container vessels developed in 2019 and managed by Liberty Blue 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884D0D68-7F1C-467F-8520-3648636610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9107" y="3507964"/>
            <a:ext cx="866205" cy="443602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31390F9E-02D5-4560-874C-F7E0BD3508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5981" y="5553796"/>
            <a:ext cx="687534" cy="29642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7F384A59-7112-4E9F-9F4D-DE7DE54F7DAB}"/>
              </a:ext>
            </a:extLst>
          </p:cNvPr>
          <p:cNvSpPr txBox="1"/>
          <p:nvPr/>
        </p:nvSpPr>
        <p:spPr>
          <a:xfrm>
            <a:off x="5353514" y="5448666"/>
            <a:ext cx="343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Arial"/>
              <a:buChar char="•"/>
            </a:pPr>
            <a:r>
              <a:rPr lang="en-US" sz="900" b="1" dirty="0">
                <a:solidFill>
                  <a:schemeClr val="accent5">
                    <a:lumMod val="75000"/>
                  </a:schemeClr>
                </a:solidFill>
                <a:latin typeface="Century Gothic"/>
                <a:cs typeface="Century Gothic"/>
              </a:rPr>
              <a:t>Hanseatic Recruitment (HR) </a:t>
            </a: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is a human resource agency for shore and sea staff </a:t>
            </a:r>
          </a:p>
          <a:p>
            <a:pPr marL="171450" indent="-171450" algn="just">
              <a:buFont typeface="Arial"/>
              <a:buChar char="•"/>
            </a:pPr>
            <a:endParaRPr lang="en-US" sz="500" dirty="0">
              <a:solidFill>
                <a:srgbClr val="5F492A"/>
              </a:solidFill>
              <a:latin typeface="Century Gothic"/>
              <a:cs typeface="Century Gothic"/>
            </a:endParaRPr>
          </a:p>
          <a:p>
            <a:pPr marL="171450" indent="-171450" algn="just"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The company is licensed to recruit professional seafarers for all vessel types as well as shore (medical) staff for employment in Germany</a:t>
            </a:r>
          </a:p>
          <a:p>
            <a:endParaRPr lang="en-US" sz="900" dirty="0">
              <a:solidFill>
                <a:srgbClr val="5F492A"/>
              </a:solidFill>
              <a:latin typeface="Century Gothic"/>
            </a:endParaRPr>
          </a:p>
          <a:p>
            <a:endParaRPr lang="de-DE" sz="900" dirty="0">
              <a:solidFill>
                <a:srgbClr val="5F492A"/>
              </a:solidFill>
              <a:latin typeface="Century Gothic"/>
            </a:endParaRPr>
          </a:p>
        </p:txBody>
      </p:sp>
      <p:pic>
        <p:nvPicPr>
          <p:cNvPr id="22" name="Picture 2" descr="Liberty Pier">
            <a:extLst>
              <a:ext uri="{FF2B5EF4-FFF2-40B4-BE49-F238E27FC236}">
                <a16:creationId xmlns:a16="http://schemas.microsoft.com/office/drawing/2014/main" id="{7A89E94D-238B-458C-B588-DF5480824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9107" y="1108948"/>
            <a:ext cx="800571" cy="496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3092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 4" descr="Bildschirmfoto 2015-03-05 um 14.39.27.png"/>
          <p:cNvPicPr>
            <a:picLocks noChangeAspect="1"/>
          </p:cNvPicPr>
          <p:nvPr/>
        </p:nvPicPr>
        <p:blipFill>
          <a:blip r:embed="rId2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8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314" y="2393677"/>
            <a:ext cx="6312458" cy="2536461"/>
          </a:xfrm>
          <a:prstGeom prst="rect">
            <a:avLst/>
          </a:prstGeom>
        </p:spPr>
      </p:pic>
      <p:sp>
        <p:nvSpPr>
          <p:cNvPr id="6" name="Textfeld 5"/>
          <p:cNvSpPr txBox="1"/>
          <p:nvPr/>
        </p:nvSpPr>
        <p:spPr>
          <a:xfrm>
            <a:off x="219502" y="1206973"/>
            <a:ext cx="2053442" cy="129690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AU" sz="900" dirty="0">
                <a:solidFill>
                  <a:srgbClr val="0083D0"/>
                </a:solidFill>
                <a:latin typeface="Century Gothic"/>
                <a:cs typeface="Century Gothic"/>
              </a:rPr>
              <a:t>Vision &amp; Strategy</a:t>
            </a:r>
          </a:p>
          <a:p>
            <a:pPr>
              <a:spcAft>
                <a:spcPts val="600"/>
              </a:spcAft>
            </a:pPr>
            <a:r>
              <a:rPr lang="en-AU" sz="900" dirty="0">
                <a:solidFill>
                  <a:srgbClr val="5F492A"/>
                </a:solidFill>
                <a:latin typeface="Century Gothic"/>
                <a:cs typeface="Century Gothic"/>
              </a:rPr>
              <a:t>Founded in 2011 the Liberty Group is a young shipping group setting new standards in the maritime industry. We combine our service mindedness and state of the art solutions with traditional shipping knowledge. 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7380100" y="1233319"/>
            <a:ext cx="1605906" cy="134149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72000" rIns="72000" rtlCol="0">
            <a:noAutofit/>
          </a:bodyPr>
          <a:lstStyle>
            <a:defPPr>
              <a:defRPr lang="de-DE"/>
            </a:defPPr>
            <a:lvl1pPr>
              <a:spcAft>
                <a:spcPts val="600"/>
              </a:spcAft>
              <a:defRPr sz="900">
                <a:solidFill>
                  <a:srgbClr val="0083FF"/>
                </a:solidFill>
                <a:latin typeface="Century Gothic"/>
                <a:cs typeface="Century Gothic"/>
              </a:defRPr>
            </a:lvl1pPr>
          </a:lstStyle>
          <a:p>
            <a:r>
              <a:rPr lang="en-AU" dirty="0">
                <a:solidFill>
                  <a:srgbClr val="0083D0"/>
                </a:solidFill>
              </a:rPr>
              <a:t>Transparency</a:t>
            </a:r>
          </a:p>
          <a:p>
            <a:r>
              <a:rPr lang="en-AU" dirty="0">
                <a:solidFill>
                  <a:srgbClr val="5F492A"/>
                </a:solidFill>
              </a:rPr>
              <a:t>Our partners and investors have full access to all relevant asset data. A unique software solution enables 24/7 transparent real-time reporting.</a:t>
            </a:r>
          </a:p>
        </p:txBody>
      </p:sp>
      <p:cxnSp>
        <p:nvCxnSpPr>
          <p:cNvPr id="9" name="Gerade Verbindung 8"/>
          <p:cNvCxnSpPr/>
          <p:nvPr/>
        </p:nvCxnSpPr>
        <p:spPr>
          <a:xfrm flipH="1">
            <a:off x="6930021" y="2430623"/>
            <a:ext cx="1118594" cy="903815"/>
          </a:xfrm>
          <a:prstGeom prst="line">
            <a:avLst/>
          </a:prstGeom>
          <a:ln>
            <a:solidFill>
              <a:srgbClr val="0083D0"/>
            </a:solidFill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10"/>
          <p:cNvCxnSpPr>
            <a:cxnSpLocks/>
          </p:cNvCxnSpPr>
          <p:nvPr/>
        </p:nvCxnSpPr>
        <p:spPr>
          <a:xfrm>
            <a:off x="1246223" y="2457819"/>
            <a:ext cx="672491" cy="461708"/>
          </a:xfrm>
          <a:prstGeom prst="line">
            <a:avLst/>
          </a:prstGeom>
          <a:ln>
            <a:solidFill>
              <a:srgbClr val="0083D0"/>
            </a:solidFill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feld 18"/>
          <p:cNvSpPr txBox="1"/>
          <p:nvPr/>
        </p:nvSpPr>
        <p:spPr>
          <a:xfrm>
            <a:off x="2377159" y="1233319"/>
            <a:ext cx="1402262" cy="134149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72000" rIns="7200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AU" sz="900" dirty="0">
                <a:solidFill>
                  <a:srgbClr val="0083D0"/>
                </a:solidFill>
                <a:latin typeface="Century Gothic"/>
                <a:cs typeface="Century Gothic"/>
              </a:rPr>
              <a:t>Off-Market Specialist</a:t>
            </a:r>
          </a:p>
          <a:p>
            <a:pPr>
              <a:spcAft>
                <a:spcPts val="600"/>
              </a:spcAft>
            </a:pPr>
            <a:r>
              <a:rPr lang="en-AU" sz="900" dirty="0">
                <a:solidFill>
                  <a:srgbClr val="5F492A"/>
                </a:solidFill>
                <a:latin typeface="Century Gothic"/>
                <a:cs typeface="Century Gothic"/>
              </a:rPr>
              <a:t>The Liberty Group is one of Germanys leading "off-market” sale &amp; purchase transaction companies offering exit strategies as well.</a:t>
            </a:r>
          </a:p>
        </p:txBody>
      </p:sp>
      <p:cxnSp>
        <p:nvCxnSpPr>
          <p:cNvPr id="22" name="Gerade Verbindung 21"/>
          <p:cNvCxnSpPr>
            <a:cxnSpLocks/>
          </p:cNvCxnSpPr>
          <p:nvPr/>
        </p:nvCxnSpPr>
        <p:spPr>
          <a:xfrm>
            <a:off x="3035901" y="2476193"/>
            <a:ext cx="484516" cy="537593"/>
          </a:xfrm>
          <a:prstGeom prst="line">
            <a:avLst/>
          </a:prstGeom>
          <a:ln>
            <a:solidFill>
              <a:srgbClr val="0083D0"/>
            </a:solidFill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feld 24"/>
          <p:cNvSpPr txBox="1"/>
          <p:nvPr/>
        </p:nvSpPr>
        <p:spPr>
          <a:xfrm>
            <a:off x="3268864" y="4818725"/>
            <a:ext cx="1705471" cy="10002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900" dirty="0">
                <a:solidFill>
                  <a:srgbClr val="0083D0"/>
                </a:solidFill>
                <a:latin typeface="Century Gothic"/>
                <a:cs typeface="Century Gothic"/>
              </a:rPr>
              <a:t>Fleet</a:t>
            </a:r>
          </a:p>
          <a:p>
            <a:pPr>
              <a:spcAft>
                <a:spcPts val="600"/>
              </a:spcAft>
            </a:pPr>
            <a:r>
              <a:rPr lang="en-AU" sz="900" dirty="0">
                <a:solidFill>
                  <a:srgbClr val="5F492A"/>
                </a:solidFill>
                <a:latin typeface="Century Gothic"/>
                <a:cs typeface="Century Gothic"/>
              </a:rPr>
              <a:t>Average fleet of +20 ships under management (Container, Bulker, Multi- Purpose Vessels (MPP) &amp; Tanker). </a:t>
            </a:r>
            <a:endParaRPr lang="en-AU" sz="900" dirty="0">
              <a:solidFill>
                <a:srgbClr val="FF0000"/>
              </a:solidFill>
              <a:latin typeface="Century Gothic"/>
              <a:cs typeface="Century Gothic"/>
            </a:endParaRPr>
          </a:p>
        </p:txBody>
      </p:sp>
      <p:sp>
        <p:nvSpPr>
          <p:cNvPr id="26" name="Textfeld 25"/>
          <p:cNvSpPr txBox="1"/>
          <p:nvPr/>
        </p:nvSpPr>
        <p:spPr>
          <a:xfrm>
            <a:off x="7802771" y="3202647"/>
            <a:ext cx="1183235" cy="113877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900" dirty="0">
                <a:solidFill>
                  <a:srgbClr val="0083D0"/>
                </a:solidFill>
                <a:latin typeface="Century Gothic"/>
                <a:cs typeface="Century Gothic"/>
              </a:rPr>
              <a:t>Proven Track Record</a:t>
            </a:r>
          </a:p>
          <a:p>
            <a:pPr>
              <a:spcAft>
                <a:spcPts val="600"/>
              </a:spcAft>
            </a:pPr>
            <a:r>
              <a:rPr lang="en-AU" sz="900" dirty="0">
                <a:solidFill>
                  <a:srgbClr val="5F492A"/>
                </a:solidFill>
                <a:latin typeface="Century Gothic"/>
                <a:cs typeface="Century Gothic"/>
              </a:rPr>
              <a:t>&gt; </a:t>
            </a:r>
            <a:r>
              <a:rPr lang="en-AU" sz="900" dirty="0">
                <a:solidFill>
                  <a:srgbClr val="5F4B2A"/>
                </a:solidFill>
                <a:latin typeface="Century Gothic"/>
                <a:cs typeface="Century Gothic"/>
              </a:rPr>
              <a:t>189 s</a:t>
            </a:r>
            <a:r>
              <a:rPr lang="en-AU" sz="900" dirty="0">
                <a:solidFill>
                  <a:srgbClr val="5F492A"/>
                </a:solidFill>
                <a:latin typeface="Century Gothic"/>
                <a:cs typeface="Century Gothic"/>
              </a:rPr>
              <a:t>uccessful projects since 2011. Having reference letters from clients.</a:t>
            </a:r>
          </a:p>
        </p:txBody>
      </p:sp>
      <p:cxnSp>
        <p:nvCxnSpPr>
          <p:cNvPr id="38" name="Gerade Verbindung 37"/>
          <p:cNvCxnSpPr>
            <a:cxnSpLocks/>
          </p:cNvCxnSpPr>
          <p:nvPr/>
        </p:nvCxnSpPr>
        <p:spPr>
          <a:xfrm flipH="1">
            <a:off x="7559642" y="3512745"/>
            <a:ext cx="243130" cy="158371"/>
          </a:xfrm>
          <a:prstGeom prst="line">
            <a:avLst/>
          </a:prstGeom>
          <a:ln>
            <a:solidFill>
              <a:srgbClr val="0083D0"/>
            </a:solidFill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Gerade Verbindung 40"/>
          <p:cNvCxnSpPr>
            <a:cxnSpLocks/>
          </p:cNvCxnSpPr>
          <p:nvPr/>
        </p:nvCxnSpPr>
        <p:spPr>
          <a:xfrm flipV="1">
            <a:off x="3987926" y="4559098"/>
            <a:ext cx="195424" cy="299960"/>
          </a:xfrm>
          <a:prstGeom prst="line">
            <a:avLst/>
          </a:prstGeom>
          <a:ln>
            <a:solidFill>
              <a:srgbClr val="0083D0"/>
            </a:solidFill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feld 43"/>
          <p:cNvSpPr txBox="1"/>
          <p:nvPr/>
        </p:nvSpPr>
        <p:spPr>
          <a:xfrm>
            <a:off x="219502" y="3112406"/>
            <a:ext cx="1321613" cy="127727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900" dirty="0">
                <a:solidFill>
                  <a:srgbClr val="0083D0"/>
                </a:solidFill>
                <a:latin typeface="Century Gothic"/>
                <a:cs typeface="Century Gothic"/>
              </a:rPr>
              <a:t>Flexibility and Speed</a:t>
            </a:r>
          </a:p>
          <a:p>
            <a:pPr>
              <a:spcAft>
                <a:spcPts val="600"/>
              </a:spcAft>
            </a:pPr>
            <a:r>
              <a:rPr lang="en-AU" sz="900" dirty="0">
                <a:solidFill>
                  <a:srgbClr val="5F492A"/>
                </a:solidFill>
                <a:latin typeface="Century Gothic"/>
                <a:cs typeface="Century Gothic"/>
              </a:rPr>
              <a:t>Private ownership and lean management allows prompt closing of deals and flexible investment structures.</a:t>
            </a:r>
          </a:p>
        </p:txBody>
      </p:sp>
      <p:cxnSp>
        <p:nvCxnSpPr>
          <p:cNvPr id="45" name="Gerade Verbindung 44"/>
          <p:cNvCxnSpPr>
            <a:cxnSpLocks/>
          </p:cNvCxnSpPr>
          <p:nvPr/>
        </p:nvCxnSpPr>
        <p:spPr>
          <a:xfrm>
            <a:off x="1221806" y="3722102"/>
            <a:ext cx="366793" cy="0"/>
          </a:xfrm>
          <a:prstGeom prst="line">
            <a:avLst/>
          </a:prstGeom>
          <a:ln>
            <a:solidFill>
              <a:srgbClr val="0083D0"/>
            </a:solidFill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feld 51"/>
          <p:cNvSpPr txBox="1"/>
          <p:nvPr/>
        </p:nvSpPr>
        <p:spPr>
          <a:xfrm>
            <a:off x="225265" y="4817282"/>
            <a:ext cx="1598379" cy="10002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900" dirty="0">
                <a:solidFill>
                  <a:srgbClr val="0083D0"/>
                </a:solidFill>
                <a:latin typeface="Century Gothic"/>
                <a:cs typeface="Century Gothic"/>
              </a:rPr>
              <a:t>Free from liabilities</a:t>
            </a:r>
          </a:p>
          <a:p>
            <a:pPr>
              <a:spcAft>
                <a:spcPts val="600"/>
              </a:spcAft>
            </a:pPr>
            <a:r>
              <a:rPr lang="en-AU" sz="900" dirty="0">
                <a:solidFill>
                  <a:srgbClr val="5F492A"/>
                </a:solidFill>
                <a:latin typeface="Century Gothic"/>
                <a:cs typeface="Century Gothic"/>
              </a:rPr>
              <a:t>The Liberty Group operates financially independently in the market without inhibiting financial liabilities. </a:t>
            </a:r>
          </a:p>
        </p:txBody>
      </p:sp>
      <p:cxnSp>
        <p:nvCxnSpPr>
          <p:cNvPr id="53" name="Gerade Verbindung 52"/>
          <p:cNvCxnSpPr>
            <a:cxnSpLocks/>
            <a:stCxn id="52" idx="0"/>
          </p:cNvCxnSpPr>
          <p:nvPr/>
        </p:nvCxnSpPr>
        <p:spPr>
          <a:xfrm flipV="1">
            <a:off x="1024455" y="4283188"/>
            <a:ext cx="1449155" cy="534094"/>
          </a:xfrm>
          <a:prstGeom prst="line">
            <a:avLst/>
          </a:prstGeom>
          <a:ln>
            <a:solidFill>
              <a:srgbClr val="0083D0"/>
            </a:solidFill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feld 58"/>
          <p:cNvSpPr txBox="1"/>
          <p:nvPr/>
        </p:nvSpPr>
        <p:spPr>
          <a:xfrm>
            <a:off x="5104440" y="4828138"/>
            <a:ext cx="1707486" cy="10002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900" dirty="0">
                <a:solidFill>
                  <a:srgbClr val="0083D0"/>
                </a:solidFill>
                <a:latin typeface="Century Gothic"/>
                <a:cs typeface="Century Gothic"/>
              </a:rPr>
              <a:t>Reliable Contacts and Network</a:t>
            </a:r>
          </a:p>
          <a:p>
            <a:pPr>
              <a:spcAft>
                <a:spcPts val="600"/>
              </a:spcAft>
            </a:pPr>
            <a:r>
              <a:rPr lang="en-AU" sz="900" dirty="0">
                <a:solidFill>
                  <a:srgbClr val="5F492A"/>
                </a:solidFill>
                <a:latin typeface="Century Gothic"/>
                <a:cs typeface="Century Gothic"/>
              </a:rPr>
              <a:t>Excellent network in shipping and financial industries enable attractive off- market investments.</a:t>
            </a:r>
          </a:p>
        </p:txBody>
      </p:sp>
      <p:cxnSp>
        <p:nvCxnSpPr>
          <p:cNvPr id="60" name="Gerade Verbindung 59"/>
          <p:cNvCxnSpPr>
            <a:cxnSpLocks/>
          </p:cNvCxnSpPr>
          <p:nvPr/>
        </p:nvCxnSpPr>
        <p:spPr>
          <a:xfrm flipH="1" flipV="1">
            <a:off x="5668154" y="4594401"/>
            <a:ext cx="157376" cy="217734"/>
          </a:xfrm>
          <a:prstGeom prst="line">
            <a:avLst/>
          </a:prstGeom>
          <a:ln>
            <a:solidFill>
              <a:srgbClr val="0083D0"/>
            </a:solidFill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feld 63"/>
          <p:cNvSpPr txBox="1"/>
          <p:nvPr/>
        </p:nvSpPr>
        <p:spPr>
          <a:xfrm>
            <a:off x="5419690" y="1228613"/>
            <a:ext cx="1805596" cy="13462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72000" rIns="72000" rtlCol="0">
            <a:noAutofit/>
          </a:bodyPr>
          <a:lstStyle>
            <a:defPPr>
              <a:defRPr lang="de-DE"/>
            </a:defPPr>
            <a:lvl1pPr>
              <a:spcAft>
                <a:spcPts val="600"/>
              </a:spcAft>
              <a:defRPr sz="900">
                <a:solidFill>
                  <a:srgbClr val="0083FF"/>
                </a:solidFill>
                <a:latin typeface="Century Gothic"/>
                <a:cs typeface="Century Gothic"/>
              </a:defRPr>
            </a:lvl1pPr>
          </a:lstStyle>
          <a:p>
            <a:r>
              <a:rPr lang="en-AU" dirty="0">
                <a:solidFill>
                  <a:srgbClr val="0083D0"/>
                </a:solidFill>
              </a:rPr>
              <a:t>One-Stop Shopping</a:t>
            </a:r>
          </a:p>
          <a:p>
            <a:r>
              <a:rPr lang="en-AU" dirty="0">
                <a:solidFill>
                  <a:srgbClr val="5F492A"/>
                </a:solidFill>
              </a:rPr>
              <a:t>The Liberty Group covers the entire maritime value-added chain from investment structuring, financial services, transaction consulting, shore and sea ship management to cargo solutions.</a:t>
            </a:r>
          </a:p>
        </p:txBody>
      </p:sp>
      <p:sp>
        <p:nvSpPr>
          <p:cNvPr id="68" name="Textfeld 67"/>
          <p:cNvSpPr txBox="1"/>
          <p:nvPr/>
        </p:nvSpPr>
        <p:spPr>
          <a:xfrm>
            <a:off x="6903454" y="4823252"/>
            <a:ext cx="2071337" cy="10002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900" dirty="0">
                <a:solidFill>
                  <a:srgbClr val="0083D0"/>
                </a:solidFill>
                <a:latin typeface="Century Gothic"/>
                <a:cs typeface="Century Gothic"/>
              </a:rPr>
              <a:t>Highly competitive pricing</a:t>
            </a:r>
          </a:p>
          <a:p>
            <a:pPr>
              <a:spcAft>
                <a:spcPts val="600"/>
              </a:spcAft>
            </a:pPr>
            <a:r>
              <a:rPr lang="en-AU" sz="900" dirty="0">
                <a:solidFill>
                  <a:srgbClr val="5F492A"/>
                </a:solidFill>
                <a:latin typeface="Century Gothic"/>
                <a:cs typeface="Century Gothic"/>
              </a:rPr>
              <a:t>The Group combines performance-based compensation on project work with competitive flat-rate management fees.</a:t>
            </a:r>
          </a:p>
        </p:txBody>
      </p:sp>
      <p:cxnSp>
        <p:nvCxnSpPr>
          <p:cNvPr id="71" name="Gerade Verbindung 70"/>
          <p:cNvCxnSpPr>
            <a:cxnSpLocks/>
          </p:cNvCxnSpPr>
          <p:nvPr/>
        </p:nvCxnSpPr>
        <p:spPr>
          <a:xfrm flipH="1">
            <a:off x="5826392" y="2484720"/>
            <a:ext cx="409016" cy="757844"/>
          </a:xfrm>
          <a:prstGeom prst="line">
            <a:avLst/>
          </a:prstGeom>
          <a:ln>
            <a:solidFill>
              <a:srgbClr val="0083D0"/>
            </a:solidFill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Gerade Verbindung 74"/>
          <p:cNvCxnSpPr>
            <a:cxnSpLocks/>
          </p:cNvCxnSpPr>
          <p:nvPr/>
        </p:nvCxnSpPr>
        <p:spPr>
          <a:xfrm flipH="1" flipV="1">
            <a:off x="7462244" y="4594401"/>
            <a:ext cx="191442" cy="217734"/>
          </a:xfrm>
          <a:prstGeom prst="line">
            <a:avLst/>
          </a:prstGeom>
          <a:ln>
            <a:solidFill>
              <a:srgbClr val="0083D0"/>
            </a:solidFill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feld 98"/>
          <p:cNvSpPr txBox="1"/>
          <p:nvPr/>
        </p:nvSpPr>
        <p:spPr>
          <a:xfrm>
            <a:off x="3853920" y="1228613"/>
            <a:ext cx="1473164" cy="13462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72000" rIns="72000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AU" sz="900" dirty="0">
                <a:solidFill>
                  <a:srgbClr val="0083D0"/>
                </a:solidFill>
                <a:latin typeface="Century Gothic"/>
                <a:cs typeface="Century Gothic"/>
              </a:rPr>
              <a:t>Experienced Management</a:t>
            </a:r>
          </a:p>
          <a:p>
            <a:pPr>
              <a:spcAft>
                <a:spcPts val="600"/>
              </a:spcAft>
            </a:pPr>
            <a:r>
              <a:rPr lang="en-AU" sz="900" dirty="0">
                <a:solidFill>
                  <a:srgbClr val="5F492A"/>
                </a:solidFill>
                <a:latin typeface="Century Gothic"/>
                <a:cs typeface="Century Gothic"/>
              </a:rPr>
              <a:t>“Grown up” in major market participants, our key personnel combine more than 200 years of </a:t>
            </a:r>
            <a:r>
              <a:rPr lang="en-AU" sz="900" dirty="0" err="1">
                <a:solidFill>
                  <a:srgbClr val="5F492A"/>
                </a:solidFill>
                <a:latin typeface="Century Gothic"/>
                <a:cs typeface="Century Gothic"/>
              </a:rPr>
              <a:t>shippinexperienceg</a:t>
            </a:r>
            <a:r>
              <a:rPr lang="en-AU" sz="900" dirty="0">
                <a:solidFill>
                  <a:srgbClr val="5F492A"/>
                </a:solidFill>
                <a:latin typeface="Century Gothic"/>
                <a:cs typeface="Century Gothic"/>
              </a:rPr>
              <a:t> and financing. </a:t>
            </a:r>
          </a:p>
        </p:txBody>
      </p:sp>
      <p:cxnSp>
        <p:nvCxnSpPr>
          <p:cNvPr id="102" name="Gerade Verbindung 101"/>
          <p:cNvCxnSpPr>
            <a:cxnSpLocks/>
          </p:cNvCxnSpPr>
          <p:nvPr/>
        </p:nvCxnSpPr>
        <p:spPr>
          <a:xfrm>
            <a:off x="4599555" y="2457819"/>
            <a:ext cx="0" cy="654587"/>
          </a:xfrm>
          <a:prstGeom prst="line">
            <a:avLst/>
          </a:prstGeom>
          <a:ln>
            <a:solidFill>
              <a:srgbClr val="0083D0"/>
            </a:solidFill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itel 1"/>
          <p:cNvSpPr txBox="1">
            <a:spLocks/>
          </p:cNvSpPr>
          <p:nvPr/>
        </p:nvSpPr>
        <p:spPr>
          <a:xfrm>
            <a:off x="0" y="731192"/>
            <a:ext cx="8229600" cy="216792"/>
          </a:xfrm>
          <a:prstGeom prst="rect">
            <a:avLst/>
          </a:prstGeom>
        </p:spPr>
        <p:txBody>
          <a:bodyPr vert="horz" lIns="0" tIns="45720" rIns="91440" bIns="45720" rtlCol="0" anchor="b">
            <a:noAutofit/>
          </a:bodyPr>
          <a:lstStyle>
            <a:lvl1pPr algn="l" defTabSz="4572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sz="1600" kern="1200">
                <a:solidFill>
                  <a:srgbClr val="0083D0"/>
                </a:solidFill>
                <a:latin typeface="Century Gothic"/>
                <a:ea typeface="+mj-ea"/>
                <a:cs typeface="Century Gothic"/>
              </a:defRPr>
            </a:lvl1pPr>
          </a:lstStyle>
          <a:p>
            <a:pPr algn="ctr"/>
            <a:r>
              <a:rPr lang="en-AU" sz="1200" b="1" dirty="0">
                <a:solidFill>
                  <a:srgbClr val="5F4B2A"/>
                </a:solidFill>
              </a:rPr>
              <a:t>The Liberty One Asia offers a one-stop shopping service portfolio for clients and investors</a:t>
            </a:r>
          </a:p>
        </p:txBody>
      </p:sp>
      <p:cxnSp>
        <p:nvCxnSpPr>
          <p:cNvPr id="29" name="Gerade Verbindung 28"/>
          <p:cNvCxnSpPr>
            <a:cxnSpLocks/>
          </p:cNvCxnSpPr>
          <p:nvPr/>
        </p:nvCxnSpPr>
        <p:spPr>
          <a:xfrm flipV="1">
            <a:off x="2393851" y="4418224"/>
            <a:ext cx="793859" cy="420762"/>
          </a:xfrm>
          <a:prstGeom prst="line">
            <a:avLst/>
          </a:prstGeom>
          <a:ln>
            <a:solidFill>
              <a:srgbClr val="0083D0"/>
            </a:solidFill>
            <a:tailEnd type="oval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feld 31"/>
          <p:cNvSpPr txBox="1"/>
          <p:nvPr/>
        </p:nvSpPr>
        <p:spPr>
          <a:xfrm>
            <a:off x="1992432" y="4818725"/>
            <a:ext cx="1074403" cy="100027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900" dirty="0">
                <a:solidFill>
                  <a:srgbClr val="0083D0"/>
                </a:solidFill>
                <a:latin typeface="Century Gothic"/>
                <a:cs typeface="Century Gothic"/>
              </a:rPr>
              <a:t>ISO Certified</a:t>
            </a:r>
          </a:p>
          <a:p>
            <a:pPr>
              <a:spcAft>
                <a:spcPts val="600"/>
              </a:spcAft>
            </a:pPr>
            <a:r>
              <a:rPr lang="en-AU" sz="900" dirty="0">
                <a:solidFill>
                  <a:srgbClr val="5F492A"/>
                </a:solidFill>
                <a:latin typeface="Century Gothic"/>
                <a:cs typeface="Century Gothic"/>
              </a:rPr>
              <a:t>The Liberty Group companies are ISO 9001 &amp; ISO 14001 certified.</a:t>
            </a:r>
            <a:endParaRPr lang="en-AU" sz="900" dirty="0">
              <a:solidFill>
                <a:srgbClr val="FF0000"/>
              </a:solidFill>
              <a:latin typeface="Century Gothic"/>
              <a:cs typeface="Century Gothic"/>
            </a:endParaRPr>
          </a:p>
        </p:txBody>
      </p:sp>
      <p:sp>
        <p:nvSpPr>
          <p:cNvPr id="30" name="Titel 1">
            <a:extLst>
              <a:ext uri="{FF2B5EF4-FFF2-40B4-BE49-F238E27FC236}">
                <a16:creationId xmlns:a16="http://schemas.microsoft.com/office/drawing/2014/main" id="{70A987B3-1F47-4A05-A2A0-DEE6BC7DE913}"/>
              </a:ext>
            </a:extLst>
          </p:cNvPr>
          <p:cNvSpPr txBox="1">
            <a:spLocks/>
          </p:cNvSpPr>
          <p:nvPr/>
        </p:nvSpPr>
        <p:spPr>
          <a:xfrm>
            <a:off x="19656" y="274408"/>
            <a:ext cx="7360444" cy="42471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0" tIns="45720" rIns="91440" bIns="45720" rtlCol="0" anchor="t">
            <a:noAutofit/>
          </a:bodyPr>
          <a:lstStyle>
            <a:lvl1pPr algn="l" defTabSz="4572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sz="1600" kern="1200">
                <a:solidFill>
                  <a:srgbClr val="0083D0"/>
                </a:solidFill>
                <a:latin typeface="Century Gothic"/>
                <a:ea typeface="+mn-ea"/>
                <a:cs typeface="Century Gothic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dirty="0"/>
              <a:t>Liberty One Asia - Who We Are</a:t>
            </a:r>
          </a:p>
        </p:txBody>
      </p:sp>
    </p:spTree>
    <p:extLst>
      <p:ext uri="{BB962C8B-B14F-4D97-AF65-F5344CB8AC3E}">
        <p14:creationId xmlns:p14="http://schemas.microsoft.com/office/powerpoint/2010/main" val="2544194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457201" y="658198"/>
            <a:ext cx="6787662" cy="507999"/>
          </a:xfrm>
          <a:prstGeom prst="rect">
            <a:avLst/>
          </a:prstGeom>
          <a:noFill/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AU" sz="1100" dirty="0">
                <a:solidFill>
                  <a:srgbClr val="5F4B2A"/>
                </a:solidFill>
                <a:latin typeface="Century Gothic"/>
                <a:cs typeface="Century Gothic"/>
              </a:rPr>
              <a:t>Liberty One (Asia) Co., Ltd. (LOA), holds Document of Compliance for Panama Flag and Marshall Island for Full-Shipmanagement Service issued by DNV</a:t>
            </a:r>
          </a:p>
        </p:txBody>
      </p:sp>
      <p:sp>
        <p:nvSpPr>
          <p:cNvPr id="5" name="Rechteck 4"/>
          <p:cNvSpPr/>
          <p:nvPr/>
        </p:nvSpPr>
        <p:spPr>
          <a:xfrm>
            <a:off x="457201" y="1721029"/>
            <a:ext cx="8229600" cy="4398962"/>
          </a:xfrm>
          <a:prstGeom prst="rect">
            <a:avLst/>
          </a:prstGeom>
          <a:noFill/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200" dirty="0">
              <a:solidFill>
                <a:schemeClr val="bg1"/>
              </a:solidFill>
              <a:latin typeface="Century Gothic"/>
              <a:cs typeface="Century Gothic"/>
            </a:endParaRP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9418BEA0-2327-4BA5-BF29-9415BF106452}"/>
              </a:ext>
            </a:extLst>
          </p:cNvPr>
          <p:cNvSpPr txBox="1">
            <a:spLocks/>
          </p:cNvSpPr>
          <p:nvPr/>
        </p:nvSpPr>
        <p:spPr>
          <a:xfrm>
            <a:off x="532274" y="321779"/>
            <a:ext cx="6712588" cy="42471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0" tIns="45720" rIns="91440" bIns="45720" rtlCol="0" anchor="t">
            <a:noAutofit/>
          </a:bodyPr>
          <a:lstStyle>
            <a:lvl1pPr algn="l" defTabSz="4572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sz="1600" kern="1200">
                <a:solidFill>
                  <a:srgbClr val="0083D0"/>
                </a:solidFill>
                <a:latin typeface="Century Gothic"/>
                <a:ea typeface="+mn-ea"/>
                <a:cs typeface="Century Gothic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dirty="0"/>
              <a:t>Shipmanagement – Certificates and Licenses  </a:t>
            </a:r>
          </a:p>
        </p:txBody>
      </p:sp>
      <p:pic>
        <p:nvPicPr>
          <p:cNvPr id="3" name="Picture 2" descr="Text&#10;&#10;Description automatically generated with low confidence">
            <a:extLst>
              <a:ext uri="{FF2B5EF4-FFF2-40B4-BE49-F238E27FC236}">
                <a16:creationId xmlns:a16="http://schemas.microsoft.com/office/drawing/2014/main" id="{B82E4E05-E1F3-47BC-AE3D-EE9E3724E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251837">
            <a:off x="398162" y="1154569"/>
            <a:ext cx="2619358" cy="37041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B49893-D0A7-5354-83CC-8471DDB6A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919975">
            <a:off x="5992640" y="2425866"/>
            <a:ext cx="2617870" cy="3659116"/>
          </a:xfrm>
          <a:prstGeom prst="rect">
            <a:avLst/>
          </a:prstGeom>
        </p:spPr>
      </p:pic>
      <p:pic>
        <p:nvPicPr>
          <p:cNvPr id="9" name="Picture 8" descr="Text&#10;&#10;Description automatically generated with medium confidence">
            <a:extLst>
              <a:ext uri="{FF2B5EF4-FFF2-40B4-BE49-F238E27FC236}">
                <a16:creationId xmlns:a16="http://schemas.microsoft.com/office/drawing/2014/main" id="{F002D222-51CE-4945-A864-BE7BB65C5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379163">
            <a:off x="3946160" y="1154569"/>
            <a:ext cx="2617870" cy="3702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D94716-307C-E67E-0167-39BE108234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865649">
            <a:off x="1915985" y="2352873"/>
            <a:ext cx="2617870" cy="3685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837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Abgerundetes Rechteck 67">
            <a:extLst>
              <a:ext uri="{FF2B5EF4-FFF2-40B4-BE49-F238E27FC236}">
                <a16:creationId xmlns:a16="http://schemas.microsoft.com/office/drawing/2014/main" id="{AC47F933-B4E7-4FA1-9F72-ED9833C02EAF}"/>
              </a:ext>
            </a:extLst>
          </p:cNvPr>
          <p:cNvSpPr/>
          <p:nvPr/>
        </p:nvSpPr>
        <p:spPr>
          <a:xfrm>
            <a:off x="3698960" y="849982"/>
            <a:ext cx="1548000" cy="504000"/>
          </a:xfrm>
          <a:prstGeom prst="roundRect">
            <a:avLst/>
          </a:prstGeom>
          <a:solidFill>
            <a:srgbClr val="008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spcAft>
                <a:spcPts val="300"/>
              </a:spcAft>
            </a:pPr>
            <a:r>
              <a:rPr lang="en-US" sz="1200" b="1" dirty="0">
                <a:solidFill>
                  <a:srgbClr val="FFFFFF"/>
                </a:solidFill>
                <a:latin typeface="Century Gothic"/>
                <a:cs typeface="Century Gothic"/>
              </a:rPr>
              <a:t>INVESTOR</a:t>
            </a:r>
          </a:p>
        </p:txBody>
      </p:sp>
      <p:sp>
        <p:nvSpPr>
          <p:cNvPr id="29" name="Abgerundetes Rechteck 86">
            <a:extLst>
              <a:ext uri="{FF2B5EF4-FFF2-40B4-BE49-F238E27FC236}">
                <a16:creationId xmlns:a16="http://schemas.microsoft.com/office/drawing/2014/main" id="{40C104AF-5420-49D8-A463-580B754A64B7}"/>
              </a:ext>
            </a:extLst>
          </p:cNvPr>
          <p:cNvSpPr/>
          <p:nvPr/>
        </p:nvSpPr>
        <p:spPr>
          <a:xfrm>
            <a:off x="6219238" y="2985397"/>
            <a:ext cx="2758281" cy="3379586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Specialist for structuring of ship investments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Tailor-made consulting service for investors combined with market analysis, research and financial expertise for an optimal structured ship investment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Identification and access to appropriate assets via extensive network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Technical an commercial evaluation of vessels 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Maritime and financial structuring and solutions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Excellent relationship and access to maritime financial institutes, financing partners &amp; banks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AU" sz="900" dirty="0">
                <a:solidFill>
                  <a:srgbClr val="5F492A"/>
                </a:solidFill>
                <a:latin typeface="Century Gothic"/>
                <a:cs typeface="Century Gothic"/>
              </a:rPr>
              <a:t>exclusive access to distressed-assets, tailor-made (value improving) solutions, off-market transactions, deep understanding of trends and demand in shipping</a:t>
            </a:r>
            <a:endParaRPr lang="en-US" sz="900" dirty="0">
              <a:solidFill>
                <a:srgbClr val="5F492A"/>
              </a:solidFill>
              <a:latin typeface="Century Gothic"/>
              <a:cs typeface="Century Gothic"/>
            </a:endParaRP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endParaRPr lang="en-US" sz="900" dirty="0">
              <a:solidFill>
                <a:srgbClr val="5F492A"/>
              </a:solidFill>
              <a:latin typeface="Century Gothic"/>
              <a:cs typeface="Century Gothic"/>
            </a:endParaRPr>
          </a:p>
          <a:p>
            <a:pPr>
              <a:spcAft>
                <a:spcPts val="300"/>
              </a:spcAft>
            </a:pPr>
            <a:endParaRPr lang="en-US" sz="900" dirty="0">
              <a:solidFill>
                <a:srgbClr val="5F492A"/>
              </a:solidFill>
              <a:latin typeface="Century Gothic"/>
              <a:cs typeface="Century Gothic"/>
            </a:endParaRP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endParaRPr lang="en-US" sz="900" dirty="0">
              <a:solidFill>
                <a:srgbClr val="5F492A"/>
              </a:solidFill>
              <a:latin typeface="Century Gothic"/>
              <a:cs typeface="Century Gothic"/>
            </a:endParaRP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endParaRPr lang="en-US" sz="700" dirty="0">
              <a:solidFill>
                <a:srgbClr val="5F492A"/>
              </a:solidFill>
              <a:latin typeface="Century Gothic"/>
              <a:cs typeface="Century Gothic"/>
            </a:endParaRPr>
          </a:p>
        </p:txBody>
      </p:sp>
      <p:sp>
        <p:nvSpPr>
          <p:cNvPr id="30" name="Abgerundetes Rechteck 88">
            <a:extLst>
              <a:ext uri="{FF2B5EF4-FFF2-40B4-BE49-F238E27FC236}">
                <a16:creationId xmlns:a16="http://schemas.microsoft.com/office/drawing/2014/main" id="{5D28F45E-30CC-452E-B702-BCED43C80A59}"/>
              </a:ext>
            </a:extLst>
          </p:cNvPr>
          <p:cNvSpPr/>
          <p:nvPr/>
        </p:nvSpPr>
        <p:spPr>
          <a:xfrm>
            <a:off x="3264230" y="3000624"/>
            <a:ext cx="2194560" cy="3276785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r>
              <a:rPr lang="en-US" sz="900" dirty="0">
                <a:solidFill>
                  <a:srgbClr val="771372"/>
                </a:solidFill>
                <a:latin typeface="Century Gothic"/>
                <a:cs typeface="Century Gothic"/>
              </a:rPr>
              <a:t>DIGITAL SHIPPING</a:t>
            </a:r>
          </a:p>
          <a:p>
            <a:r>
              <a:rPr lang="en-US" sz="900" b="1" dirty="0">
                <a:solidFill>
                  <a:schemeClr val="tx1"/>
                </a:solidFill>
                <a:latin typeface="Century Gothic"/>
                <a:cs typeface="Century Gothic"/>
              </a:rPr>
              <a:t>performed by Liberty Blue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endParaRPr lang="en-US" sz="900" dirty="0">
              <a:solidFill>
                <a:srgbClr val="5F492A"/>
              </a:solidFill>
              <a:latin typeface="Century Gothic"/>
              <a:cs typeface="Century Gothic"/>
            </a:endParaRP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First quality technical and commercial ship-management of MPP-, Container-, Bulker- vessels by Liberty Blue 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Combining all needed expertize to maximize investment returns via professional and cost-effective ship management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Reduced running costs as a result of the network, capacities and supplier recourses of its platform members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DSIS &amp; transparent 24/7 on-time reporting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Technical, crewing and commercial evaluation and survey of vessels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endParaRPr lang="en-US" sz="900" dirty="0">
              <a:solidFill>
                <a:srgbClr val="5F492A"/>
              </a:solidFill>
              <a:latin typeface="Century Gothic"/>
              <a:cs typeface="Century Gothic"/>
            </a:endParaRP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endParaRPr lang="en-US" sz="900" dirty="0">
              <a:solidFill>
                <a:srgbClr val="5F492A"/>
              </a:solidFill>
              <a:latin typeface="Century Gothic"/>
              <a:cs typeface="Century Gothic"/>
            </a:endParaRP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endParaRPr lang="en-US" sz="900" dirty="0">
              <a:solidFill>
                <a:srgbClr val="5F492A"/>
              </a:solidFill>
              <a:latin typeface="Century Gothic"/>
              <a:cs typeface="Century Gothic"/>
            </a:endParaRPr>
          </a:p>
          <a:p>
            <a:pPr>
              <a:spcAft>
                <a:spcPts val="300"/>
              </a:spcAft>
            </a:pPr>
            <a:endParaRPr lang="en-US" sz="900" dirty="0">
              <a:solidFill>
                <a:srgbClr val="5F492A"/>
              </a:solidFill>
              <a:latin typeface="Century Gothic"/>
              <a:cs typeface="Century Gothic"/>
            </a:endParaRP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endParaRPr lang="en-US" sz="900" dirty="0">
              <a:solidFill>
                <a:srgbClr val="5F492A"/>
              </a:solidFill>
              <a:latin typeface="Century Gothic"/>
              <a:cs typeface="Century Gothic"/>
            </a:endParaRP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endParaRPr lang="en-US" sz="700" dirty="0">
              <a:solidFill>
                <a:srgbClr val="5F492A"/>
              </a:solidFill>
              <a:latin typeface="Century Gothic"/>
              <a:cs typeface="Century Gothic"/>
            </a:endParaRPr>
          </a:p>
        </p:txBody>
      </p:sp>
      <p:sp>
        <p:nvSpPr>
          <p:cNvPr id="31" name="Abgerundetes Rechteck 98">
            <a:extLst>
              <a:ext uri="{FF2B5EF4-FFF2-40B4-BE49-F238E27FC236}">
                <a16:creationId xmlns:a16="http://schemas.microsoft.com/office/drawing/2014/main" id="{332A0769-0882-49B6-964E-5601AA029722}"/>
              </a:ext>
            </a:extLst>
          </p:cNvPr>
          <p:cNvSpPr/>
          <p:nvPr/>
        </p:nvSpPr>
        <p:spPr>
          <a:xfrm>
            <a:off x="452690" y="3044019"/>
            <a:ext cx="2194560" cy="276379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t"/>
          <a:lstStyle/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Sale and Purchase (S&amp;P)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Off market specialist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Excellent contacts and network to the maritime industry ensuring an attractive acquisition of assets 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Market research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Professional execution of sale and purchase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Second hand transactions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Asset valuation and technical consultancy incl. ship surveys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Chartering brokers for various ships within the Liberty Blue Group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Contract of affreightments </a:t>
            </a: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endParaRPr lang="en-US" sz="900" dirty="0">
              <a:solidFill>
                <a:srgbClr val="5F492A"/>
              </a:solidFill>
              <a:latin typeface="Century Gothic"/>
              <a:cs typeface="Century Gothic"/>
            </a:endParaRP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endParaRPr lang="en-US" sz="900" dirty="0">
              <a:solidFill>
                <a:srgbClr val="5F492A"/>
              </a:solidFill>
              <a:latin typeface="Century Gothic"/>
              <a:cs typeface="Century Gothic"/>
            </a:endParaRP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endParaRPr lang="en-US" sz="900" dirty="0">
              <a:solidFill>
                <a:srgbClr val="5F492A"/>
              </a:solidFill>
              <a:latin typeface="Century Gothic"/>
              <a:cs typeface="Century Gothic"/>
            </a:endParaRP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endParaRPr lang="en-US" sz="900" dirty="0">
              <a:solidFill>
                <a:srgbClr val="5F492A"/>
              </a:solidFill>
              <a:latin typeface="Century Gothic"/>
              <a:cs typeface="Century Gothic"/>
            </a:endParaRP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endParaRPr lang="en-US" sz="900" dirty="0">
              <a:solidFill>
                <a:srgbClr val="5F492A"/>
              </a:solidFill>
              <a:latin typeface="Century Gothic"/>
              <a:cs typeface="Century Gothic"/>
            </a:endParaRP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endParaRPr lang="en-US" sz="900" dirty="0">
              <a:solidFill>
                <a:srgbClr val="5F492A"/>
              </a:solidFill>
              <a:latin typeface="Century Gothic"/>
              <a:cs typeface="Century Gothic"/>
            </a:endParaRP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endParaRPr lang="en-US" sz="900" dirty="0">
              <a:solidFill>
                <a:srgbClr val="5F492A"/>
              </a:solidFill>
              <a:latin typeface="Century Gothic"/>
              <a:cs typeface="Century Gothic"/>
            </a:endParaRP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endParaRPr lang="en-US" sz="900" dirty="0">
              <a:solidFill>
                <a:srgbClr val="5F492A"/>
              </a:solidFill>
              <a:latin typeface="Century Gothic"/>
              <a:cs typeface="Century Gothic"/>
            </a:endParaRP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endParaRPr lang="en-US" sz="900" dirty="0">
              <a:solidFill>
                <a:srgbClr val="5F492A"/>
              </a:solidFill>
              <a:latin typeface="Century Gothic"/>
              <a:cs typeface="Century Gothic"/>
            </a:endParaRPr>
          </a:p>
          <a:p>
            <a:pPr>
              <a:spcAft>
                <a:spcPts val="300"/>
              </a:spcAft>
            </a:pPr>
            <a:endParaRPr lang="en-US" sz="900" dirty="0">
              <a:solidFill>
                <a:srgbClr val="5F492A"/>
              </a:solidFill>
              <a:latin typeface="Century Gothic"/>
              <a:cs typeface="Century Gothic"/>
            </a:endParaRP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endParaRPr lang="en-US" sz="900" dirty="0">
              <a:solidFill>
                <a:srgbClr val="5F492A"/>
              </a:solidFill>
              <a:latin typeface="Century Gothic"/>
              <a:cs typeface="Century Gothic"/>
            </a:endParaRPr>
          </a:p>
          <a:p>
            <a:pPr marL="171450" indent="-171450">
              <a:spcAft>
                <a:spcPts val="300"/>
              </a:spcAft>
              <a:buFont typeface="Arial"/>
              <a:buChar char="•"/>
            </a:pPr>
            <a:endParaRPr lang="en-US" sz="700" dirty="0">
              <a:solidFill>
                <a:srgbClr val="5F492A"/>
              </a:solidFill>
              <a:latin typeface="Century Gothic"/>
              <a:cs typeface="Century Gothic"/>
            </a:endParaRPr>
          </a:p>
        </p:txBody>
      </p:sp>
      <p:sp>
        <p:nvSpPr>
          <p:cNvPr id="32" name="Rechteck 2">
            <a:extLst>
              <a:ext uri="{FF2B5EF4-FFF2-40B4-BE49-F238E27FC236}">
                <a16:creationId xmlns:a16="http://schemas.microsoft.com/office/drawing/2014/main" id="{8987D041-467E-46A9-8709-A45DD53D5B5C}"/>
              </a:ext>
            </a:extLst>
          </p:cNvPr>
          <p:cNvSpPr/>
          <p:nvPr/>
        </p:nvSpPr>
        <p:spPr>
          <a:xfrm>
            <a:off x="646110" y="882455"/>
            <a:ext cx="288487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AU" sz="1000" b="1" dirty="0">
                <a:solidFill>
                  <a:srgbClr val="5F4B2A"/>
                </a:solidFill>
                <a:latin typeface="Century Gothic"/>
                <a:cs typeface="Century Gothic"/>
              </a:rPr>
              <a:t>Working together hand in hand – always in the interest to optimize investment returns</a:t>
            </a:r>
            <a:endParaRPr lang="de-DE" sz="1000" b="1" dirty="0">
              <a:solidFill>
                <a:srgbClr val="5F4B2A"/>
              </a:solidFill>
            </a:endParaRPr>
          </a:p>
        </p:txBody>
      </p:sp>
      <p:sp>
        <p:nvSpPr>
          <p:cNvPr id="33" name="Rechteck 22">
            <a:extLst>
              <a:ext uri="{FF2B5EF4-FFF2-40B4-BE49-F238E27FC236}">
                <a16:creationId xmlns:a16="http://schemas.microsoft.com/office/drawing/2014/main" id="{9A3E366A-97C8-4735-AE89-24CC0AAC74C8}"/>
              </a:ext>
            </a:extLst>
          </p:cNvPr>
          <p:cNvSpPr/>
          <p:nvPr/>
        </p:nvSpPr>
        <p:spPr>
          <a:xfrm>
            <a:off x="5790750" y="892401"/>
            <a:ext cx="1789127" cy="1215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sz="800" b="1" i="1" dirty="0">
                <a:solidFill>
                  <a:srgbClr val="5F492A"/>
                </a:solidFill>
                <a:latin typeface="Century Gothic"/>
                <a:cs typeface="Century Gothic"/>
              </a:rPr>
              <a:t>Investor Shopping List: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sz="800" dirty="0">
                <a:solidFill>
                  <a:srgbClr val="5F492A"/>
                </a:solidFill>
                <a:latin typeface="Century Gothic"/>
                <a:cs typeface="Century Gothic"/>
              </a:rPr>
              <a:t>Market research 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sz="800" dirty="0">
                <a:solidFill>
                  <a:srgbClr val="5F492A"/>
                </a:solidFill>
                <a:latin typeface="Century Gothic"/>
                <a:cs typeface="Century Gothic"/>
              </a:rPr>
              <a:t>Project management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sz="800" dirty="0">
                <a:solidFill>
                  <a:srgbClr val="5F492A"/>
                </a:solidFill>
                <a:latin typeface="Century Gothic"/>
                <a:cs typeface="Century Gothic"/>
              </a:rPr>
              <a:t>Financing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sz="800" dirty="0">
                <a:solidFill>
                  <a:srgbClr val="5F492A"/>
                </a:solidFill>
                <a:latin typeface="Century Gothic"/>
                <a:cs typeface="Century Gothic"/>
              </a:rPr>
              <a:t>Sale &amp; purchase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sz="800" dirty="0">
                <a:solidFill>
                  <a:srgbClr val="5F492A"/>
                </a:solidFill>
                <a:latin typeface="Century Gothic"/>
                <a:cs typeface="Century Gothic"/>
              </a:rPr>
              <a:t>Full ship management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endParaRPr lang="de-DE" sz="1000" dirty="0"/>
          </a:p>
        </p:txBody>
      </p:sp>
      <p:pic>
        <p:nvPicPr>
          <p:cNvPr id="34" name="Picture 2" descr="Bildergebnis für shopping bag icon">
            <a:extLst>
              <a:ext uri="{FF2B5EF4-FFF2-40B4-BE49-F238E27FC236}">
                <a16:creationId xmlns:a16="http://schemas.microsoft.com/office/drawing/2014/main" id="{AA825D2C-C92E-4145-9152-699BF00776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190" y="798433"/>
            <a:ext cx="637166" cy="637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Titel 1">
            <a:extLst>
              <a:ext uri="{FF2B5EF4-FFF2-40B4-BE49-F238E27FC236}">
                <a16:creationId xmlns:a16="http://schemas.microsoft.com/office/drawing/2014/main" id="{C1DFF570-F0F6-4F60-9B36-99665C4B9D3D}"/>
              </a:ext>
            </a:extLst>
          </p:cNvPr>
          <p:cNvSpPr txBox="1">
            <a:spLocks/>
          </p:cNvSpPr>
          <p:nvPr/>
        </p:nvSpPr>
        <p:spPr>
          <a:xfrm>
            <a:off x="646110" y="274638"/>
            <a:ext cx="6677758" cy="41737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0" tIns="45720" rIns="91440" bIns="45720" rtlCol="0" anchor="t">
            <a:normAutofit/>
          </a:bodyPr>
          <a:lstStyle>
            <a:lvl1pPr algn="l" defTabSz="4572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sz="1600" kern="1200">
                <a:solidFill>
                  <a:srgbClr val="0083D0"/>
                </a:solidFill>
                <a:latin typeface="Century Gothic"/>
                <a:ea typeface="+mn-ea"/>
                <a:cs typeface="Century Gothic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dirty="0"/>
              <a:t>Liberty Group – One-Stop Shopping for Investors</a:t>
            </a:r>
          </a:p>
        </p:txBody>
      </p:sp>
      <p:sp>
        <p:nvSpPr>
          <p:cNvPr id="37" name="Abgerundetes Rechteck 16">
            <a:extLst>
              <a:ext uri="{FF2B5EF4-FFF2-40B4-BE49-F238E27FC236}">
                <a16:creationId xmlns:a16="http://schemas.microsoft.com/office/drawing/2014/main" id="{98431D03-7669-4117-A263-41A17CBB43A4}"/>
              </a:ext>
            </a:extLst>
          </p:cNvPr>
          <p:cNvSpPr/>
          <p:nvPr/>
        </p:nvSpPr>
        <p:spPr>
          <a:xfrm>
            <a:off x="5661251" y="2566080"/>
            <a:ext cx="841969" cy="260165"/>
          </a:xfrm>
          <a:prstGeom prst="roundRect">
            <a:avLst/>
          </a:prstGeom>
          <a:solidFill>
            <a:srgbClr val="008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spcAft>
                <a:spcPts val="300"/>
              </a:spcAft>
            </a:pPr>
            <a:r>
              <a:rPr lang="en-US" sz="1000" b="1" dirty="0">
                <a:solidFill>
                  <a:srgbClr val="FFFFFF"/>
                </a:solidFill>
                <a:latin typeface="Century Gothic"/>
                <a:cs typeface="Century Gothic"/>
              </a:rPr>
              <a:t>networking</a:t>
            </a:r>
          </a:p>
        </p:txBody>
      </p:sp>
      <p:sp>
        <p:nvSpPr>
          <p:cNvPr id="38" name="Rechteck 35">
            <a:extLst>
              <a:ext uri="{FF2B5EF4-FFF2-40B4-BE49-F238E27FC236}">
                <a16:creationId xmlns:a16="http://schemas.microsoft.com/office/drawing/2014/main" id="{67F93C33-962A-46B5-9480-E91303F44811}"/>
              </a:ext>
            </a:extLst>
          </p:cNvPr>
          <p:cNvSpPr/>
          <p:nvPr/>
        </p:nvSpPr>
        <p:spPr>
          <a:xfrm>
            <a:off x="7188146" y="907789"/>
            <a:ext cx="1281607" cy="1184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sz="800" dirty="0">
                <a:solidFill>
                  <a:srgbClr val="5F492A"/>
                </a:solidFill>
                <a:latin typeface="Century Gothic"/>
                <a:cs typeface="Century Gothic"/>
              </a:rPr>
              <a:t>Newbuilding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sz="800" dirty="0">
                <a:solidFill>
                  <a:srgbClr val="5F492A"/>
                </a:solidFill>
                <a:latin typeface="Century Gothic"/>
                <a:cs typeface="Century Gothic"/>
              </a:rPr>
              <a:t>Recycling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sz="800" dirty="0">
                <a:solidFill>
                  <a:srgbClr val="5F492A"/>
                </a:solidFill>
                <a:latin typeface="Century Gothic"/>
                <a:cs typeface="Century Gothic"/>
              </a:rPr>
              <a:t>Restructuring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sz="800" dirty="0">
                <a:solidFill>
                  <a:srgbClr val="5F492A"/>
                </a:solidFill>
                <a:latin typeface="Century Gothic"/>
                <a:cs typeface="Century Gothic"/>
              </a:rPr>
              <a:t>Benchmarking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sz="800" dirty="0">
                <a:solidFill>
                  <a:srgbClr val="5F492A"/>
                </a:solidFill>
                <a:latin typeface="Century Gothic"/>
                <a:cs typeface="Century Gothic"/>
              </a:rPr>
              <a:t>Consultancy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sz="800" dirty="0">
                <a:solidFill>
                  <a:srgbClr val="5F492A"/>
                </a:solidFill>
                <a:latin typeface="Century Gothic"/>
                <a:cs typeface="Century Gothic"/>
              </a:rPr>
              <a:t>Transparency</a:t>
            </a:r>
          </a:p>
          <a:p>
            <a:pPr marL="171450" indent="-171450">
              <a:spcAft>
                <a:spcPts val="300"/>
              </a:spcAft>
              <a:buFont typeface="Wingdings" panose="05000000000000000000" pitchFamily="2" charset="2"/>
              <a:buChar char="ü"/>
            </a:pPr>
            <a:endParaRPr lang="de-DE" sz="800" dirty="0"/>
          </a:p>
        </p:txBody>
      </p:sp>
      <p:cxnSp>
        <p:nvCxnSpPr>
          <p:cNvPr id="39" name="Gerade Verbindung mit Pfeil 14">
            <a:extLst>
              <a:ext uri="{FF2B5EF4-FFF2-40B4-BE49-F238E27FC236}">
                <a16:creationId xmlns:a16="http://schemas.microsoft.com/office/drawing/2014/main" id="{B107BADD-4D7A-4D88-A846-BDBB63B78A36}"/>
              </a:ext>
            </a:extLst>
          </p:cNvPr>
          <p:cNvCxnSpPr>
            <a:cxnSpLocks/>
          </p:cNvCxnSpPr>
          <p:nvPr/>
        </p:nvCxnSpPr>
        <p:spPr>
          <a:xfrm>
            <a:off x="5661251" y="2926256"/>
            <a:ext cx="841969" cy="0"/>
          </a:xfrm>
          <a:prstGeom prst="straightConnector1">
            <a:avLst/>
          </a:prstGeom>
          <a:ln>
            <a:solidFill>
              <a:srgbClr val="0083D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mit Pfeil 43">
            <a:extLst>
              <a:ext uri="{FF2B5EF4-FFF2-40B4-BE49-F238E27FC236}">
                <a16:creationId xmlns:a16="http://schemas.microsoft.com/office/drawing/2014/main" id="{F97DD53B-7E52-4FF5-B882-701A10FDCBE6}"/>
              </a:ext>
            </a:extLst>
          </p:cNvPr>
          <p:cNvCxnSpPr>
            <a:cxnSpLocks/>
          </p:cNvCxnSpPr>
          <p:nvPr/>
        </p:nvCxnSpPr>
        <p:spPr>
          <a:xfrm flipH="1">
            <a:off x="5639254" y="2456894"/>
            <a:ext cx="841968" cy="0"/>
          </a:xfrm>
          <a:prstGeom prst="straightConnector1">
            <a:avLst/>
          </a:prstGeom>
          <a:ln>
            <a:solidFill>
              <a:srgbClr val="0083D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Abgerundetes Rechteck 16">
            <a:extLst>
              <a:ext uri="{FF2B5EF4-FFF2-40B4-BE49-F238E27FC236}">
                <a16:creationId xmlns:a16="http://schemas.microsoft.com/office/drawing/2014/main" id="{FA40B1C0-6941-49CD-A539-B6FE71E31609}"/>
              </a:ext>
            </a:extLst>
          </p:cNvPr>
          <p:cNvSpPr/>
          <p:nvPr/>
        </p:nvSpPr>
        <p:spPr>
          <a:xfrm>
            <a:off x="2401248" y="2541272"/>
            <a:ext cx="841969" cy="260165"/>
          </a:xfrm>
          <a:prstGeom prst="roundRect">
            <a:avLst/>
          </a:prstGeom>
          <a:solidFill>
            <a:srgbClr val="008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spcAft>
                <a:spcPts val="300"/>
              </a:spcAft>
            </a:pPr>
            <a:r>
              <a:rPr lang="en-US" sz="1000" b="1" dirty="0">
                <a:solidFill>
                  <a:srgbClr val="FFFFFF"/>
                </a:solidFill>
                <a:latin typeface="Century Gothic"/>
                <a:cs typeface="Century Gothic"/>
              </a:rPr>
              <a:t>networking</a:t>
            </a:r>
          </a:p>
        </p:txBody>
      </p:sp>
      <p:cxnSp>
        <p:nvCxnSpPr>
          <p:cNvPr id="42" name="Gerade Verbindung mit Pfeil 47">
            <a:extLst>
              <a:ext uri="{FF2B5EF4-FFF2-40B4-BE49-F238E27FC236}">
                <a16:creationId xmlns:a16="http://schemas.microsoft.com/office/drawing/2014/main" id="{45E03BA5-7394-46BE-B8E7-AA3F62E9EAB6}"/>
              </a:ext>
            </a:extLst>
          </p:cNvPr>
          <p:cNvCxnSpPr>
            <a:cxnSpLocks/>
          </p:cNvCxnSpPr>
          <p:nvPr/>
        </p:nvCxnSpPr>
        <p:spPr>
          <a:xfrm>
            <a:off x="2401248" y="2901448"/>
            <a:ext cx="841969" cy="0"/>
          </a:xfrm>
          <a:prstGeom prst="straightConnector1">
            <a:avLst/>
          </a:prstGeom>
          <a:ln>
            <a:solidFill>
              <a:srgbClr val="0083D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Gerade Verbindung mit Pfeil 48">
            <a:extLst>
              <a:ext uri="{FF2B5EF4-FFF2-40B4-BE49-F238E27FC236}">
                <a16:creationId xmlns:a16="http://schemas.microsoft.com/office/drawing/2014/main" id="{98659CB3-7314-410A-8C0F-C2773E1474A4}"/>
              </a:ext>
            </a:extLst>
          </p:cNvPr>
          <p:cNvCxnSpPr>
            <a:cxnSpLocks/>
          </p:cNvCxnSpPr>
          <p:nvPr/>
        </p:nvCxnSpPr>
        <p:spPr>
          <a:xfrm flipH="1">
            <a:off x="2379251" y="2432086"/>
            <a:ext cx="841968" cy="0"/>
          </a:xfrm>
          <a:prstGeom prst="straightConnector1">
            <a:avLst/>
          </a:prstGeom>
          <a:ln>
            <a:solidFill>
              <a:srgbClr val="0083D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Abgerundetes Rechteck 16">
            <a:extLst>
              <a:ext uri="{FF2B5EF4-FFF2-40B4-BE49-F238E27FC236}">
                <a16:creationId xmlns:a16="http://schemas.microsoft.com/office/drawing/2014/main" id="{A502B1B8-040F-4463-AC4A-039BD2718157}"/>
              </a:ext>
            </a:extLst>
          </p:cNvPr>
          <p:cNvSpPr/>
          <p:nvPr/>
        </p:nvSpPr>
        <p:spPr>
          <a:xfrm>
            <a:off x="3889384" y="1460365"/>
            <a:ext cx="1129764" cy="260165"/>
          </a:xfrm>
          <a:prstGeom prst="roundRect">
            <a:avLst/>
          </a:prstGeom>
          <a:solidFill>
            <a:srgbClr val="008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spcAft>
                <a:spcPts val="300"/>
              </a:spcAft>
            </a:pPr>
            <a:r>
              <a:rPr lang="en-US" sz="1000" b="1" dirty="0">
                <a:solidFill>
                  <a:srgbClr val="FFFFFF"/>
                </a:solidFill>
                <a:latin typeface="Century Gothic"/>
                <a:cs typeface="Century Gothic"/>
              </a:rPr>
              <a:t>Shopping via</a:t>
            </a:r>
          </a:p>
        </p:txBody>
      </p:sp>
      <p:cxnSp>
        <p:nvCxnSpPr>
          <p:cNvPr id="45" name="Gerade Verbindung mit Pfeil 50">
            <a:extLst>
              <a:ext uri="{FF2B5EF4-FFF2-40B4-BE49-F238E27FC236}">
                <a16:creationId xmlns:a16="http://schemas.microsoft.com/office/drawing/2014/main" id="{472252E8-BD6D-41D8-8AAE-4ED5C6FDF287}"/>
              </a:ext>
            </a:extLst>
          </p:cNvPr>
          <p:cNvCxnSpPr>
            <a:cxnSpLocks/>
          </p:cNvCxnSpPr>
          <p:nvPr/>
        </p:nvCxnSpPr>
        <p:spPr>
          <a:xfrm flipV="1">
            <a:off x="4947682" y="1803193"/>
            <a:ext cx="0" cy="528765"/>
          </a:xfrm>
          <a:prstGeom prst="straightConnector1">
            <a:avLst/>
          </a:prstGeom>
          <a:ln>
            <a:solidFill>
              <a:srgbClr val="0083D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Gerade Verbindung mit Pfeil 51">
            <a:extLst>
              <a:ext uri="{FF2B5EF4-FFF2-40B4-BE49-F238E27FC236}">
                <a16:creationId xmlns:a16="http://schemas.microsoft.com/office/drawing/2014/main" id="{F0E17E8D-747B-4B65-95F3-759EF9E22EC2}"/>
              </a:ext>
            </a:extLst>
          </p:cNvPr>
          <p:cNvCxnSpPr>
            <a:cxnSpLocks/>
          </p:cNvCxnSpPr>
          <p:nvPr/>
        </p:nvCxnSpPr>
        <p:spPr>
          <a:xfrm>
            <a:off x="3996411" y="1787393"/>
            <a:ext cx="0" cy="528765"/>
          </a:xfrm>
          <a:prstGeom prst="straightConnector1">
            <a:avLst/>
          </a:prstGeom>
          <a:ln>
            <a:solidFill>
              <a:srgbClr val="0083D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2" descr="598fa35b-3b7c-47e3-bc51-fd651b401d32">
            <a:extLst>
              <a:ext uri="{FF2B5EF4-FFF2-40B4-BE49-F238E27FC236}">
                <a16:creationId xmlns:a16="http://schemas.microsoft.com/office/drawing/2014/main" id="{1C98B828-40BE-4204-8623-FE0F5C88B3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4047" y="2311291"/>
            <a:ext cx="960437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" name="Grafik 26">
            <a:extLst>
              <a:ext uri="{FF2B5EF4-FFF2-40B4-BE49-F238E27FC236}">
                <a16:creationId xmlns:a16="http://schemas.microsoft.com/office/drawing/2014/main" id="{EBB0CCA3-A95D-4994-A315-D9EC104F9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2873" y="1803193"/>
            <a:ext cx="721386" cy="473494"/>
          </a:xfrm>
          <a:prstGeom prst="rect">
            <a:avLst/>
          </a:prstGeom>
        </p:spPr>
      </p:pic>
      <p:pic>
        <p:nvPicPr>
          <p:cNvPr id="49" name="Grafik 31" descr="Ein Bild, das Zeichnung, Schild enthält.&#10;&#10;Automatisch generierte Beschreibung">
            <a:extLst>
              <a:ext uri="{FF2B5EF4-FFF2-40B4-BE49-F238E27FC236}">
                <a16:creationId xmlns:a16="http://schemas.microsoft.com/office/drawing/2014/main" id="{48476F0C-FDEA-46D9-A0D8-CED6A3F95D2A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9222" y="3114851"/>
            <a:ext cx="491490" cy="337185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17073603-6DB7-9448-8E75-101BD86734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3545" y="2059264"/>
            <a:ext cx="1230951" cy="1049471"/>
          </a:xfrm>
          <a:prstGeom prst="rect">
            <a:avLst/>
          </a:prstGeom>
        </p:spPr>
      </p:pic>
      <p:pic>
        <p:nvPicPr>
          <p:cNvPr id="2" name="Picture 2" descr="Liberty Pier">
            <a:extLst>
              <a:ext uri="{FF2B5EF4-FFF2-40B4-BE49-F238E27FC236}">
                <a16:creationId xmlns:a16="http://schemas.microsoft.com/office/drawing/2014/main" id="{E21408F2-E58B-CAD2-5EA2-41E35161C2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348" y="2147033"/>
            <a:ext cx="1352201" cy="838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8668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hteck 3">
            <a:extLst>
              <a:ext uri="{FF2B5EF4-FFF2-40B4-BE49-F238E27FC236}">
                <a16:creationId xmlns:a16="http://schemas.microsoft.com/office/drawing/2014/main" id="{5982ADA5-42DA-438C-8AF0-D50639D897CC}"/>
              </a:ext>
            </a:extLst>
          </p:cNvPr>
          <p:cNvSpPr/>
          <p:nvPr/>
        </p:nvSpPr>
        <p:spPr>
          <a:xfrm>
            <a:off x="457199" y="992877"/>
            <a:ext cx="3953933" cy="281708"/>
          </a:xfrm>
          <a:prstGeom prst="rect">
            <a:avLst/>
          </a:prstGeom>
          <a:solidFill>
            <a:srgbClr val="0083D0"/>
          </a:solidFill>
          <a:ln>
            <a:solidFill>
              <a:srgbClr val="5F4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100" dirty="0">
                <a:solidFill>
                  <a:schemeClr val="bg1"/>
                </a:solidFill>
                <a:latin typeface="Century Gothic"/>
                <a:cs typeface="Century Gothic"/>
              </a:rPr>
              <a:t>Liberty Group - Total Shipping Projects</a:t>
            </a:r>
          </a:p>
        </p:txBody>
      </p:sp>
      <p:sp>
        <p:nvSpPr>
          <p:cNvPr id="59" name="Rechteck 5">
            <a:extLst>
              <a:ext uri="{FF2B5EF4-FFF2-40B4-BE49-F238E27FC236}">
                <a16:creationId xmlns:a16="http://schemas.microsoft.com/office/drawing/2014/main" id="{2567EF97-6325-47F7-AF87-6CC4D1933625}"/>
              </a:ext>
            </a:extLst>
          </p:cNvPr>
          <p:cNvSpPr/>
          <p:nvPr/>
        </p:nvSpPr>
        <p:spPr>
          <a:xfrm>
            <a:off x="457199" y="4074744"/>
            <a:ext cx="8229601" cy="281708"/>
          </a:xfrm>
          <a:prstGeom prst="rect">
            <a:avLst/>
          </a:prstGeom>
          <a:solidFill>
            <a:srgbClr val="0083D0"/>
          </a:solidFill>
          <a:ln>
            <a:solidFill>
              <a:srgbClr val="5F4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100" dirty="0">
                <a:solidFill>
                  <a:schemeClr val="bg1"/>
                </a:solidFill>
                <a:latin typeface="Century Gothic"/>
                <a:cs typeface="Century Gothic"/>
              </a:rPr>
              <a:t>Handelshaus Track Record </a:t>
            </a:r>
          </a:p>
        </p:txBody>
      </p:sp>
      <p:sp>
        <p:nvSpPr>
          <p:cNvPr id="60" name="Rechteck 6">
            <a:extLst>
              <a:ext uri="{FF2B5EF4-FFF2-40B4-BE49-F238E27FC236}">
                <a16:creationId xmlns:a16="http://schemas.microsoft.com/office/drawing/2014/main" id="{F847A2AF-B059-4A0D-B11B-9BC8D83FCBFD}"/>
              </a:ext>
            </a:extLst>
          </p:cNvPr>
          <p:cNvSpPr/>
          <p:nvPr/>
        </p:nvSpPr>
        <p:spPr>
          <a:xfrm>
            <a:off x="457199" y="1274582"/>
            <a:ext cx="3953933" cy="2707025"/>
          </a:xfrm>
          <a:prstGeom prst="rect">
            <a:avLst/>
          </a:prstGeom>
          <a:solidFill>
            <a:srgbClr val="FFFFFF"/>
          </a:solidFill>
          <a:ln>
            <a:solidFill>
              <a:srgbClr val="5F4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61" name="Rechteck 8">
            <a:extLst>
              <a:ext uri="{FF2B5EF4-FFF2-40B4-BE49-F238E27FC236}">
                <a16:creationId xmlns:a16="http://schemas.microsoft.com/office/drawing/2014/main" id="{FD95CAD2-DA97-485A-8E26-0C7F9DC46426}"/>
              </a:ext>
            </a:extLst>
          </p:cNvPr>
          <p:cNvSpPr/>
          <p:nvPr/>
        </p:nvSpPr>
        <p:spPr>
          <a:xfrm>
            <a:off x="465667" y="4356452"/>
            <a:ext cx="8221133" cy="1637862"/>
          </a:xfrm>
          <a:prstGeom prst="rect">
            <a:avLst/>
          </a:prstGeom>
          <a:solidFill>
            <a:srgbClr val="FFFFFF"/>
          </a:solidFill>
          <a:ln>
            <a:solidFill>
              <a:srgbClr val="5F4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 dirty="0">
              <a:solidFill>
                <a:schemeClr val="bg1"/>
              </a:solidFill>
            </a:endParaRPr>
          </a:p>
        </p:txBody>
      </p:sp>
      <p:sp>
        <p:nvSpPr>
          <p:cNvPr id="62" name="Rechteck 76">
            <a:extLst>
              <a:ext uri="{FF2B5EF4-FFF2-40B4-BE49-F238E27FC236}">
                <a16:creationId xmlns:a16="http://schemas.microsoft.com/office/drawing/2014/main" id="{A3FC4A17-11EB-404E-8E3A-5CB48507E726}"/>
              </a:ext>
            </a:extLst>
          </p:cNvPr>
          <p:cNvSpPr/>
          <p:nvPr/>
        </p:nvSpPr>
        <p:spPr>
          <a:xfrm>
            <a:off x="4732867" y="992877"/>
            <a:ext cx="3953933" cy="281708"/>
          </a:xfrm>
          <a:prstGeom prst="rect">
            <a:avLst/>
          </a:prstGeom>
          <a:solidFill>
            <a:srgbClr val="0083D0"/>
          </a:solidFill>
          <a:ln>
            <a:solidFill>
              <a:srgbClr val="5F4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100" dirty="0">
                <a:solidFill>
                  <a:schemeClr val="bg1"/>
                </a:solidFill>
                <a:latin typeface="Century Gothic"/>
                <a:cs typeface="Century Gothic"/>
              </a:rPr>
              <a:t>Liberty Group - Ship Management</a:t>
            </a:r>
          </a:p>
        </p:txBody>
      </p:sp>
      <p:sp>
        <p:nvSpPr>
          <p:cNvPr id="63" name="Rechteck 77">
            <a:extLst>
              <a:ext uri="{FF2B5EF4-FFF2-40B4-BE49-F238E27FC236}">
                <a16:creationId xmlns:a16="http://schemas.microsoft.com/office/drawing/2014/main" id="{FEBC2621-BE6B-4F98-A3B7-30C5DA6A44B4}"/>
              </a:ext>
            </a:extLst>
          </p:cNvPr>
          <p:cNvSpPr/>
          <p:nvPr/>
        </p:nvSpPr>
        <p:spPr>
          <a:xfrm>
            <a:off x="4732867" y="1274582"/>
            <a:ext cx="3953933" cy="2707025"/>
          </a:xfrm>
          <a:prstGeom prst="rect">
            <a:avLst/>
          </a:prstGeom>
          <a:solidFill>
            <a:srgbClr val="FFFFFF"/>
          </a:solidFill>
          <a:ln>
            <a:solidFill>
              <a:srgbClr val="5F49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 dirty="0">
              <a:solidFill>
                <a:schemeClr val="bg1"/>
              </a:solidFill>
            </a:endParaRPr>
          </a:p>
        </p:txBody>
      </p:sp>
      <p:grpSp>
        <p:nvGrpSpPr>
          <p:cNvPr id="64" name="Gruppierung 102">
            <a:extLst>
              <a:ext uri="{FF2B5EF4-FFF2-40B4-BE49-F238E27FC236}">
                <a16:creationId xmlns:a16="http://schemas.microsoft.com/office/drawing/2014/main" id="{6168A7A0-BBEA-43E5-A7CA-05D7C67F374C}"/>
              </a:ext>
            </a:extLst>
          </p:cNvPr>
          <p:cNvGrpSpPr/>
          <p:nvPr/>
        </p:nvGrpSpPr>
        <p:grpSpPr>
          <a:xfrm>
            <a:off x="4885721" y="2846351"/>
            <a:ext cx="3778063" cy="256233"/>
            <a:chOff x="5088467" y="2641600"/>
            <a:chExt cx="3293533" cy="256233"/>
          </a:xfrm>
        </p:grpSpPr>
        <p:cxnSp>
          <p:nvCxnSpPr>
            <p:cNvPr id="65" name="Gerade Verbindung 103">
              <a:extLst>
                <a:ext uri="{FF2B5EF4-FFF2-40B4-BE49-F238E27FC236}">
                  <a16:creationId xmlns:a16="http://schemas.microsoft.com/office/drawing/2014/main" id="{89D6397C-4A1E-4668-BC5B-A983B368CB95}"/>
                </a:ext>
              </a:extLst>
            </p:cNvPr>
            <p:cNvCxnSpPr/>
            <p:nvPr/>
          </p:nvCxnSpPr>
          <p:spPr>
            <a:xfrm flipV="1">
              <a:off x="5088467" y="2641600"/>
              <a:ext cx="3293533" cy="8467"/>
            </a:xfrm>
            <a:prstGeom prst="line">
              <a:avLst/>
            </a:prstGeom>
            <a:ln w="19050" cmpd="sng">
              <a:solidFill>
                <a:srgbClr val="0083D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feld 104">
              <a:extLst>
                <a:ext uri="{FF2B5EF4-FFF2-40B4-BE49-F238E27FC236}">
                  <a16:creationId xmlns:a16="http://schemas.microsoft.com/office/drawing/2014/main" id="{1FD83891-0C88-4030-A563-8ABF30E2E47E}"/>
                </a:ext>
              </a:extLst>
            </p:cNvPr>
            <p:cNvSpPr txBox="1"/>
            <p:nvPr/>
          </p:nvSpPr>
          <p:spPr>
            <a:xfrm>
              <a:off x="5274733" y="2667001"/>
              <a:ext cx="38457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2013</a:t>
              </a:r>
            </a:p>
          </p:txBody>
        </p:sp>
        <p:sp>
          <p:nvSpPr>
            <p:cNvPr id="67" name="Textfeld 105">
              <a:extLst>
                <a:ext uri="{FF2B5EF4-FFF2-40B4-BE49-F238E27FC236}">
                  <a16:creationId xmlns:a16="http://schemas.microsoft.com/office/drawing/2014/main" id="{C0C32F77-3FFA-4E59-82BD-58A53C9EBF38}"/>
                </a:ext>
              </a:extLst>
            </p:cNvPr>
            <p:cNvSpPr txBox="1"/>
            <p:nvPr/>
          </p:nvSpPr>
          <p:spPr>
            <a:xfrm>
              <a:off x="6472766" y="2667001"/>
              <a:ext cx="38457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2017</a:t>
              </a:r>
            </a:p>
          </p:txBody>
        </p:sp>
        <p:sp>
          <p:nvSpPr>
            <p:cNvPr id="68" name="Textfeld 106">
              <a:extLst>
                <a:ext uri="{FF2B5EF4-FFF2-40B4-BE49-F238E27FC236}">
                  <a16:creationId xmlns:a16="http://schemas.microsoft.com/office/drawing/2014/main" id="{A6F025F9-EBA3-4E73-A856-C0AC53E1912A}"/>
                </a:ext>
              </a:extLst>
            </p:cNvPr>
            <p:cNvSpPr txBox="1"/>
            <p:nvPr/>
          </p:nvSpPr>
          <p:spPr>
            <a:xfrm>
              <a:off x="7670799" y="2667001"/>
              <a:ext cx="38457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900" dirty="0">
                  <a:solidFill>
                    <a:srgbClr val="5F492A"/>
                  </a:solidFill>
                  <a:latin typeface="Century Gothic"/>
                  <a:cs typeface="Century Gothic"/>
                </a:rPr>
                <a:t>2020</a:t>
              </a:r>
            </a:p>
          </p:txBody>
        </p:sp>
      </p:grpSp>
      <p:graphicFrame>
        <p:nvGraphicFramePr>
          <p:cNvPr id="69" name="Diagramm 107">
            <a:extLst>
              <a:ext uri="{FF2B5EF4-FFF2-40B4-BE49-F238E27FC236}">
                <a16:creationId xmlns:a16="http://schemas.microsoft.com/office/drawing/2014/main" id="{9B6A0CA2-9D23-40CE-B1D6-0D720A2736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4954658"/>
              </p:ext>
            </p:extLst>
          </p:nvPr>
        </p:nvGraphicFramePr>
        <p:xfrm>
          <a:off x="4680997" y="1543209"/>
          <a:ext cx="1599222" cy="13751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0" name="Diagramm 108">
            <a:extLst>
              <a:ext uri="{FF2B5EF4-FFF2-40B4-BE49-F238E27FC236}">
                <a16:creationId xmlns:a16="http://schemas.microsoft.com/office/drawing/2014/main" id="{1AA493CC-ECCF-443E-A0BA-E04BBD5A53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7787750"/>
              </p:ext>
            </p:extLst>
          </p:nvPr>
        </p:nvGraphicFramePr>
        <p:xfrm>
          <a:off x="5852002" y="1543209"/>
          <a:ext cx="1620000" cy="140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1" name="Diagramm 109">
            <a:extLst>
              <a:ext uri="{FF2B5EF4-FFF2-40B4-BE49-F238E27FC236}">
                <a16:creationId xmlns:a16="http://schemas.microsoft.com/office/drawing/2014/main" id="{4841BF92-F03F-4995-89A2-E34BC302CC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7203736"/>
              </p:ext>
            </p:extLst>
          </p:nvPr>
        </p:nvGraphicFramePr>
        <p:xfrm>
          <a:off x="7037500" y="1514409"/>
          <a:ext cx="1620000" cy="1403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72" name="Diagramm 4">
            <a:extLst>
              <a:ext uri="{FF2B5EF4-FFF2-40B4-BE49-F238E27FC236}">
                <a16:creationId xmlns:a16="http://schemas.microsoft.com/office/drawing/2014/main" id="{E5F4DF5D-A92D-40D9-B0E8-6046DD64AF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3408326"/>
              </p:ext>
            </p:extLst>
          </p:nvPr>
        </p:nvGraphicFramePr>
        <p:xfrm>
          <a:off x="465667" y="1345920"/>
          <a:ext cx="3820411" cy="25230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73" name="Textfeld 10">
            <a:extLst>
              <a:ext uri="{FF2B5EF4-FFF2-40B4-BE49-F238E27FC236}">
                <a16:creationId xmlns:a16="http://schemas.microsoft.com/office/drawing/2014/main" id="{8753E260-DF38-4167-8E56-058DB51DE9B4}"/>
              </a:ext>
            </a:extLst>
          </p:cNvPr>
          <p:cNvSpPr txBox="1"/>
          <p:nvPr/>
        </p:nvSpPr>
        <p:spPr>
          <a:xfrm>
            <a:off x="1531365" y="4362620"/>
            <a:ext cx="207620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dirty="0">
                <a:solidFill>
                  <a:srgbClr val="0083D0"/>
                </a:solidFill>
                <a:latin typeface="Century Gothic" panose="020B0502020202020204" pitchFamily="34" charset="0"/>
              </a:rPr>
              <a:t>Sold Vessels  - 99 units since 2014</a:t>
            </a:r>
          </a:p>
        </p:txBody>
      </p:sp>
      <p:sp>
        <p:nvSpPr>
          <p:cNvPr id="74" name="Textfeld 21">
            <a:extLst>
              <a:ext uri="{FF2B5EF4-FFF2-40B4-BE49-F238E27FC236}">
                <a16:creationId xmlns:a16="http://schemas.microsoft.com/office/drawing/2014/main" id="{FD10A8E9-1785-45B2-8906-F9487B6073EE}"/>
              </a:ext>
            </a:extLst>
          </p:cNvPr>
          <p:cNvSpPr txBox="1"/>
          <p:nvPr/>
        </p:nvSpPr>
        <p:spPr>
          <a:xfrm>
            <a:off x="6262415" y="4362620"/>
            <a:ext cx="112862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b="1" dirty="0">
                <a:solidFill>
                  <a:srgbClr val="0083D0"/>
                </a:solidFill>
                <a:latin typeface="Century Gothic" panose="020B0502020202020204" pitchFamily="34" charset="0"/>
              </a:rPr>
              <a:t>Trading Activities</a:t>
            </a:r>
          </a:p>
        </p:txBody>
      </p:sp>
      <p:cxnSp>
        <p:nvCxnSpPr>
          <p:cNvPr id="75" name="Gerade Verbindung 12">
            <a:extLst>
              <a:ext uri="{FF2B5EF4-FFF2-40B4-BE49-F238E27FC236}">
                <a16:creationId xmlns:a16="http://schemas.microsoft.com/office/drawing/2014/main" id="{D9292923-C12B-44AF-B7E6-1BF48061C4E8}"/>
              </a:ext>
            </a:extLst>
          </p:cNvPr>
          <p:cNvCxnSpPr/>
          <p:nvPr/>
        </p:nvCxnSpPr>
        <p:spPr>
          <a:xfrm>
            <a:off x="4585287" y="4492833"/>
            <a:ext cx="0" cy="1369012"/>
          </a:xfrm>
          <a:prstGeom prst="line">
            <a:avLst/>
          </a:prstGeom>
          <a:ln w="9525" cmpd="sng">
            <a:solidFill>
              <a:srgbClr val="0083D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6" name="Picture 6">
            <a:extLst>
              <a:ext uri="{FF2B5EF4-FFF2-40B4-BE49-F238E27FC236}">
                <a16:creationId xmlns:a16="http://schemas.microsoft.com/office/drawing/2014/main" id="{888575BF-D0DF-479D-A8BE-8E4399D73EB9}"/>
              </a:ext>
            </a:extLst>
          </p:cNvPr>
          <p:cNvPicPr>
            <a:picLocks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88"/>
          <a:stretch/>
        </p:blipFill>
        <p:spPr>
          <a:xfrm>
            <a:off x="641484" y="4981489"/>
            <a:ext cx="828000" cy="684000"/>
          </a:xfrm>
          <a:prstGeom prst="rect">
            <a:avLst/>
          </a:prstGeom>
        </p:spPr>
      </p:pic>
      <p:sp>
        <p:nvSpPr>
          <p:cNvPr id="77" name="Textfeld 3">
            <a:extLst>
              <a:ext uri="{FF2B5EF4-FFF2-40B4-BE49-F238E27FC236}">
                <a16:creationId xmlns:a16="http://schemas.microsoft.com/office/drawing/2014/main" id="{C88B43F0-8DEB-4E4B-B0B2-226634BE3397}"/>
              </a:ext>
            </a:extLst>
          </p:cNvPr>
          <p:cNvSpPr txBox="1"/>
          <p:nvPr/>
        </p:nvSpPr>
        <p:spPr>
          <a:xfrm>
            <a:off x="745515" y="5638416"/>
            <a:ext cx="597866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700" dirty="0">
                <a:solidFill>
                  <a:srgbClr val="5F492A"/>
                </a:solidFill>
                <a:latin typeface="Century Gothic" panose="020B0502020202020204" pitchFamily="34" charset="0"/>
              </a:rPr>
              <a:t>500 – 1.200 TEU</a:t>
            </a:r>
          </a:p>
        </p:txBody>
      </p:sp>
      <p:pic>
        <p:nvPicPr>
          <p:cNvPr id="78" name="Picture 4">
            <a:extLst>
              <a:ext uri="{FF2B5EF4-FFF2-40B4-BE49-F238E27FC236}">
                <a16:creationId xmlns:a16="http://schemas.microsoft.com/office/drawing/2014/main" id="{211F03FB-E586-430F-B87A-EE0FE5541C58}"/>
              </a:ext>
            </a:extLst>
          </p:cNvPr>
          <p:cNvPicPr>
            <a:picLocks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3625" y="4983937"/>
            <a:ext cx="828000" cy="68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" name="Textfeld 39">
            <a:extLst>
              <a:ext uri="{FF2B5EF4-FFF2-40B4-BE49-F238E27FC236}">
                <a16:creationId xmlns:a16="http://schemas.microsoft.com/office/drawing/2014/main" id="{EF8279B7-A0F8-4C3A-A416-E154BEBA83A5}"/>
              </a:ext>
            </a:extLst>
          </p:cNvPr>
          <p:cNvSpPr txBox="1"/>
          <p:nvPr/>
        </p:nvSpPr>
        <p:spPr>
          <a:xfrm>
            <a:off x="1697785" y="5612361"/>
            <a:ext cx="659527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700" dirty="0">
                <a:solidFill>
                  <a:srgbClr val="5F492A"/>
                </a:solidFill>
                <a:latin typeface="Century Gothic" panose="020B0502020202020204" pitchFamily="34" charset="0"/>
              </a:rPr>
              <a:t>Up to 12.800 tdw</a:t>
            </a:r>
          </a:p>
        </p:txBody>
      </p:sp>
      <p:pic>
        <p:nvPicPr>
          <p:cNvPr id="81" name="Picture 5">
            <a:extLst>
              <a:ext uri="{FF2B5EF4-FFF2-40B4-BE49-F238E27FC236}">
                <a16:creationId xmlns:a16="http://schemas.microsoft.com/office/drawing/2014/main" id="{6CD08720-FE93-4605-94C6-05D12C2F2606}"/>
              </a:ext>
            </a:extLst>
          </p:cNvPr>
          <p:cNvPicPr>
            <a:picLocks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5766" y="4983938"/>
            <a:ext cx="828000" cy="68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" name="Textfeld 60">
            <a:extLst>
              <a:ext uri="{FF2B5EF4-FFF2-40B4-BE49-F238E27FC236}">
                <a16:creationId xmlns:a16="http://schemas.microsoft.com/office/drawing/2014/main" id="{60D7517C-959C-4D2D-BE22-8FB91D413ECE}"/>
              </a:ext>
            </a:extLst>
          </p:cNvPr>
          <p:cNvSpPr txBox="1"/>
          <p:nvPr/>
        </p:nvSpPr>
        <p:spPr>
          <a:xfrm>
            <a:off x="2612219" y="5638416"/>
            <a:ext cx="775423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700" dirty="0">
                <a:solidFill>
                  <a:srgbClr val="5F492A"/>
                </a:solidFill>
                <a:latin typeface="Century Gothic" panose="020B0502020202020204" pitchFamily="34" charset="0"/>
              </a:rPr>
              <a:t>Up to 57.000 tdw</a:t>
            </a:r>
          </a:p>
        </p:txBody>
      </p:sp>
      <p:sp>
        <p:nvSpPr>
          <p:cNvPr id="83" name="Textfeld 37">
            <a:extLst>
              <a:ext uri="{FF2B5EF4-FFF2-40B4-BE49-F238E27FC236}">
                <a16:creationId xmlns:a16="http://schemas.microsoft.com/office/drawing/2014/main" id="{F089EC85-F8C0-4E56-912A-90CADB4EE771}"/>
              </a:ext>
            </a:extLst>
          </p:cNvPr>
          <p:cNvSpPr txBox="1"/>
          <p:nvPr/>
        </p:nvSpPr>
        <p:spPr>
          <a:xfrm>
            <a:off x="3674477" y="5638416"/>
            <a:ext cx="59951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700" dirty="0">
                <a:solidFill>
                  <a:srgbClr val="5F492A"/>
                </a:solidFill>
                <a:latin typeface="Century Gothic" panose="020B0502020202020204" pitchFamily="34" charset="0"/>
              </a:rPr>
              <a:t>1.700 – 9.000 tdw</a:t>
            </a:r>
          </a:p>
        </p:txBody>
      </p:sp>
      <p:sp>
        <p:nvSpPr>
          <p:cNvPr id="84" name="Textfeld 2">
            <a:extLst>
              <a:ext uri="{FF2B5EF4-FFF2-40B4-BE49-F238E27FC236}">
                <a16:creationId xmlns:a16="http://schemas.microsoft.com/office/drawing/2014/main" id="{2B48C0D3-69E5-49CA-A827-4534D9246AAF}"/>
              </a:ext>
            </a:extLst>
          </p:cNvPr>
          <p:cNvSpPr txBox="1"/>
          <p:nvPr/>
        </p:nvSpPr>
        <p:spPr>
          <a:xfrm>
            <a:off x="818433" y="5148187"/>
            <a:ext cx="469328" cy="338554"/>
          </a:xfrm>
          <a:prstGeom prst="rect">
            <a:avLst/>
          </a:prstGeom>
          <a:solidFill>
            <a:schemeClr val="bg1">
              <a:lumMod val="85000"/>
              <a:alpha val="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26</a:t>
            </a:r>
          </a:p>
        </p:txBody>
      </p:sp>
      <p:pic>
        <p:nvPicPr>
          <p:cNvPr id="85" name="Picture 5">
            <a:extLst>
              <a:ext uri="{FF2B5EF4-FFF2-40B4-BE49-F238E27FC236}">
                <a16:creationId xmlns:a16="http://schemas.microsoft.com/office/drawing/2014/main" id="{0D70BF3A-069E-44C6-B5CC-9F0551A34BB4}"/>
              </a:ext>
            </a:extLst>
          </p:cNvPr>
          <p:cNvPicPr>
            <a:picLocks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906" y="4983938"/>
            <a:ext cx="828000" cy="68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" name="Textfeld 2">
            <a:extLst>
              <a:ext uri="{FF2B5EF4-FFF2-40B4-BE49-F238E27FC236}">
                <a16:creationId xmlns:a16="http://schemas.microsoft.com/office/drawing/2014/main" id="{4CDCD925-3A3E-4243-ADA2-2122E1DE549A}"/>
              </a:ext>
            </a:extLst>
          </p:cNvPr>
          <p:cNvSpPr txBox="1"/>
          <p:nvPr/>
        </p:nvSpPr>
        <p:spPr>
          <a:xfrm>
            <a:off x="1800574" y="5148187"/>
            <a:ext cx="469328" cy="338554"/>
          </a:xfrm>
          <a:prstGeom prst="rect">
            <a:avLst/>
          </a:prstGeom>
          <a:solidFill>
            <a:schemeClr val="bg1">
              <a:lumMod val="85000"/>
              <a:alpha val="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28</a:t>
            </a:r>
          </a:p>
        </p:txBody>
      </p:sp>
      <p:sp>
        <p:nvSpPr>
          <p:cNvPr id="87" name="Textfeld 2">
            <a:extLst>
              <a:ext uri="{FF2B5EF4-FFF2-40B4-BE49-F238E27FC236}">
                <a16:creationId xmlns:a16="http://schemas.microsoft.com/office/drawing/2014/main" id="{E9DB5BE6-DC97-479D-9EC2-EF523D4A535C}"/>
              </a:ext>
            </a:extLst>
          </p:cNvPr>
          <p:cNvSpPr txBox="1"/>
          <p:nvPr/>
        </p:nvSpPr>
        <p:spPr>
          <a:xfrm>
            <a:off x="2782715" y="5148187"/>
            <a:ext cx="469328" cy="338554"/>
          </a:xfrm>
          <a:prstGeom prst="rect">
            <a:avLst/>
          </a:prstGeom>
          <a:solidFill>
            <a:schemeClr val="bg1">
              <a:lumMod val="85000"/>
              <a:alpha val="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7</a:t>
            </a:r>
          </a:p>
        </p:txBody>
      </p:sp>
      <p:sp>
        <p:nvSpPr>
          <p:cNvPr id="88" name="Textfeld 2">
            <a:extLst>
              <a:ext uri="{FF2B5EF4-FFF2-40B4-BE49-F238E27FC236}">
                <a16:creationId xmlns:a16="http://schemas.microsoft.com/office/drawing/2014/main" id="{3F37819A-A895-4503-B150-6AFBF9C5675E}"/>
              </a:ext>
            </a:extLst>
          </p:cNvPr>
          <p:cNvSpPr txBox="1"/>
          <p:nvPr/>
        </p:nvSpPr>
        <p:spPr>
          <a:xfrm>
            <a:off x="3764855" y="5148187"/>
            <a:ext cx="469328" cy="338554"/>
          </a:xfrm>
          <a:prstGeom prst="rect">
            <a:avLst/>
          </a:prstGeom>
          <a:solidFill>
            <a:schemeClr val="bg1">
              <a:lumMod val="85000"/>
              <a:alpha val="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38</a:t>
            </a:r>
          </a:p>
        </p:txBody>
      </p:sp>
      <p:sp>
        <p:nvSpPr>
          <p:cNvPr id="89" name="Textfeld 14">
            <a:extLst>
              <a:ext uri="{FF2B5EF4-FFF2-40B4-BE49-F238E27FC236}">
                <a16:creationId xmlns:a16="http://schemas.microsoft.com/office/drawing/2014/main" id="{1C78DE45-73A9-45AE-8940-30C6A218E7E5}"/>
              </a:ext>
            </a:extLst>
          </p:cNvPr>
          <p:cNvSpPr txBox="1"/>
          <p:nvPr/>
        </p:nvSpPr>
        <p:spPr>
          <a:xfrm>
            <a:off x="604406" y="4736279"/>
            <a:ext cx="9284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>
                <a:solidFill>
                  <a:srgbClr val="5F492A"/>
                </a:solidFill>
                <a:latin typeface="Century Gothic"/>
                <a:cs typeface="Century Gothic"/>
              </a:rPr>
              <a:t>– Container –</a:t>
            </a:r>
          </a:p>
        </p:txBody>
      </p:sp>
      <p:sp>
        <p:nvSpPr>
          <p:cNvPr id="90" name="Textfeld 61">
            <a:extLst>
              <a:ext uri="{FF2B5EF4-FFF2-40B4-BE49-F238E27FC236}">
                <a16:creationId xmlns:a16="http://schemas.microsoft.com/office/drawing/2014/main" id="{B3E70822-7BA7-405E-821B-A8B6171B20F0}"/>
              </a:ext>
            </a:extLst>
          </p:cNvPr>
          <p:cNvSpPr txBox="1"/>
          <p:nvPr/>
        </p:nvSpPr>
        <p:spPr>
          <a:xfrm>
            <a:off x="1731309" y="4718798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>
                <a:solidFill>
                  <a:srgbClr val="5F492A"/>
                </a:solidFill>
                <a:latin typeface="Century Gothic"/>
                <a:cs typeface="Century Gothic"/>
              </a:rPr>
              <a:t>– MPP –</a:t>
            </a:r>
          </a:p>
        </p:txBody>
      </p:sp>
      <p:sp>
        <p:nvSpPr>
          <p:cNvPr id="91" name="Textfeld 62">
            <a:extLst>
              <a:ext uri="{FF2B5EF4-FFF2-40B4-BE49-F238E27FC236}">
                <a16:creationId xmlns:a16="http://schemas.microsoft.com/office/drawing/2014/main" id="{5DB1063B-3DD2-4128-A1A5-D47B499A4872}"/>
              </a:ext>
            </a:extLst>
          </p:cNvPr>
          <p:cNvSpPr txBox="1"/>
          <p:nvPr/>
        </p:nvSpPr>
        <p:spPr>
          <a:xfrm>
            <a:off x="2680745" y="4718798"/>
            <a:ext cx="6976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>
                <a:solidFill>
                  <a:srgbClr val="5F492A"/>
                </a:solidFill>
                <a:latin typeface="Century Gothic"/>
                <a:cs typeface="Century Gothic"/>
              </a:rPr>
              <a:t>– Bulker –</a:t>
            </a:r>
          </a:p>
        </p:txBody>
      </p:sp>
      <p:sp>
        <p:nvSpPr>
          <p:cNvPr id="92" name="Textfeld 63">
            <a:extLst>
              <a:ext uri="{FF2B5EF4-FFF2-40B4-BE49-F238E27FC236}">
                <a16:creationId xmlns:a16="http://schemas.microsoft.com/office/drawing/2014/main" id="{AF8DB859-4268-4240-9C10-094887C7DCEC}"/>
              </a:ext>
            </a:extLst>
          </p:cNvPr>
          <p:cNvSpPr txBox="1"/>
          <p:nvPr/>
        </p:nvSpPr>
        <p:spPr>
          <a:xfrm>
            <a:off x="3503043" y="4704302"/>
            <a:ext cx="10054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>
                <a:solidFill>
                  <a:srgbClr val="5F492A"/>
                </a:solidFill>
                <a:latin typeface="Century Gothic"/>
                <a:cs typeface="Century Gothic"/>
              </a:rPr>
              <a:t>– Gen. Cargo–</a:t>
            </a:r>
          </a:p>
        </p:txBody>
      </p:sp>
      <p:pic>
        <p:nvPicPr>
          <p:cNvPr id="93" name="Picture 6">
            <a:extLst>
              <a:ext uri="{FF2B5EF4-FFF2-40B4-BE49-F238E27FC236}">
                <a16:creationId xmlns:a16="http://schemas.microsoft.com/office/drawing/2014/main" id="{3BE0B91F-BC82-48E9-B689-C0DCC975BDE4}"/>
              </a:ext>
            </a:extLst>
          </p:cNvPr>
          <p:cNvPicPr>
            <a:picLocks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621" y="4993390"/>
            <a:ext cx="828000" cy="684000"/>
          </a:xfrm>
          <a:prstGeom prst="rect">
            <a:avLst/>
          </a:prstGeom>
          <a:noFill/>
          <a:ln w="22225">
            <a:solidFill>
              <a:schemeClr val="bg1">
                <a:lumMod val="50000"/>
                <a:alpha val="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94" name="Picture 8">
            <a:extLst>
              <a:ext uri="{FF2B5EF4-FFF2-40B4-BE49-F238E27FC236}">
                <a16:creationId xmlns:a16="http://schemas.microsoft.com/office/drawing/2014/main" id="{2C949382-8CE3-4D1F-879A-39705A73C9CC}"/>
              </a:ext>
            </a:extLst>
          </p:cNvPr>
          <p:cNvPicPr>
            <a:picLocks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5875" y="4993390"/>
            <a:ext cx="828000" cy="68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5" name="Picture 9">
            <a:extLst>
              <a:ext uri="{FF2B5EF4-FFF2-40B4-BE49-F238E27FC236}">
                <a16:creationId xmlns:a16="http://schemas.microsoft.com/office/drawing/2014/main" id="{D08AEF3E-DFF7-4D51-8ADC-5ECFB7B633A4}"/>
              </a:ext>
            </a:extLst>
          </p:cNvPr>
          <p:cNvPicPr>
            <a:picLocks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8384" y="4993390"/>
            <a:ext cx="828000" cy="68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6" name="Picture 7">
            <a:extLst>
              <a:ext uri="{FF2B5EF4-FFF2-40B4-BE49-F238E27FC236}">
                <a16:creationId xmlns:a16="http://schemas.microsoft.com/office/drawing/2014/main" id="{509D6A6C-A79A-4FAB-80F0-5EC63883DBB0}"/>
              </a:ext>
            </a:extLst>
          </p:cNvPr>
          <p:cNvPicPr>
            <a:picLocks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2129" y="4993390"/>
            <a:ext cx="828000" cy="68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" name="Textfeld 92">
            <a:extLst>
              <a:ext uri="{FF2B5EF4-FFF2-40B4-BE49-F238E27FC236}">
                <a16:creationId xmlns:a16="http://schemas.microsoft.com/office/drawing/2014/main" id="{84B9ED08-18C1-4A93-8C1B-69C072C68B84}"/>
              </a:ext>
            </a:extLst>
          </p:cNvPr>
          <p:cNvSpPr txBox="1"/>
          <p:nvPr/>
        </p:nvSpPr>
        <p:spPr>
          <a:xfrm>
            <a:off x="4688381" y="4729787"/>
            <a:ext cx="10708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900" dirty="0">
                <a:solidFill>
                  <a:srgbClr val="5F492A"/>
                </a:solidFill>
                <a:latin typeface="Century Gothic" panose="020B0502020202020204" pitchFamily="34" charset="0"/>
              </a:rPr>
              <a:t>Suezmax Tanker</a:t>
            </a:r>
          </a:p>
        </p:txBody>
      </p:sp>
      <p:sp>
        <p:nvSpPr>
          <p:cNvPr id="98" name="Textfeld 93">
            <a:extLst>
              <a:ext uri="{FF2B5EF4-FFF2-40B4-BE49-F238E27FC236}">
                <a16:creationId xmlns:a16="http://schemas.microsoft.com/office/drawing/2014/main" id="{CEFA8F88-E2AD-4F9B-A608-C808019F2F69}"/>
              </a:ext>
            </a:extLst>
          </p:cNvPr>
          <p:cNvSpPr txBox="1"/>
          <p:nvPr/>
        </p:nvSpPr>
        <p:spPr>
          <a:xfrm>
            <a:off x="5823933" y="4601054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900" dirty="0">
                <a:solidFill>
                  <a:srgbClr val="5F492A"/>
                </a:solidFill>
                <a:latin typeface="Century Gothic" panose="020B0502020202020204" pitchFamily="34" charset="0"/>
              </a:rPr>
              <a:t>MPP, Bulker </a:t>
            </a:r>
          </a:p>
          <a:p>
            <a:pPr algn="ctr"/>
            <a:r>
              <a:rPr lang="de-DE" sz="900" dirty="0">
                <a:solidFill>
                  <a:srgbClr val="5F492A"/>
                </a:solidFill>
                <a:latin typeface="Century Gothic" panose="020B0502020202020204" pitchFamily="34" charset="0"/>
              </a:rPr>
              <a:t>&amp; Tanker</a:t>
            </a:r>
          </a:p>
        </p:txBody>
      </p:sp>
      <p:sp>
        <p:nvSpPr>
          <p:cNvPr id="99" name="Textfeld 94">
            <a:extLst>
              <a:ext uri="{FF2B5EF4-FFF2-40B4-BE49-F238E27FC236}">
                <a16:creationId xmlns:a16="http://schemas.microsoft.com/office/drawing/2014/main" id="{BD607BF3-7DFB-4A88-8762-686CC87BB3F2}"/>
              </a:ext>
            </a:extLst>
          </p:cNvPr>
          <p:cNvSpPr txBox="1"/>
          <p:nvPr/>
        </p:nvSpPr>
        <p:spPr>
          <a:xfrm>
            <a:off x="6821897" y="4619596"/>
            <a:ext cx="675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900" dirty="0">
                <a:solidFill>
                  <a:srgbClr val="5F492A"/>
                </a:solidFill>
                <a:latin typeface="Century Gothic" panose="020B0502020202020204" pitchFamily="34" charset="0"/>
              </a:rPr>
              <a:t>Tankers </a:t>
            </a:r>
          </a:p>
          <a:p>
            <a:pPr algn="ctr"/>
            <a:r>
              <a:rPr lang="de-DE" sz="900" dirty="0">
                <a:solidFill>
                  <a:srgbClr val="5F492A"/>
                </a:solidFill>
                <a:latin typeface="Century Gothic" panose="020B0502020202020204" pitchFamily="34" charset="0"/>
              </a:rPr>
              <a:t>&amp; Bulkers</a:t>
            </a:r>
          </a:p>
        </p:txBody>
      </p:sp>
      <p:sp>
        <p:nvSpPr>
          <p:cNvPr id="100" name="Textfeld 95">
            <a:extLst>
              <a:ext uri="{FF2B5EF4-FFF2-40B4-BE49-F238E27FC236}">
                <a16:creationId xmlns:a16="http://schemas.microsoft.com/office/drawing/2014/main" id="{5CE85E14-F9AD-41F2-9BD9-49F8D08C113C}"/>
              </a:ext>
            </a:extLst>
          </p:cNvPr>
          <p:cNvSpPr txBox="1"/>
          <p:nvPr/>
        </p:nvSpPr>
        <p:spPr>
          <a:xfrm>
            <a:off x="7568478" y="4623642"/>
            <a:ext cx="1172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900" dirty="0">
                <a:solidFill>
                  <a:srgbClr val="5F492A"/>
                </a:solidFill>
                <a:latin typeface="Century Gothic" panose="020B0502020202020204" pitchFamily="34" charset="0"/>
              </a:rPr>
              <a:t>Panamax Bulker</a:t>
            </a:r>
          </a:p>
          <a:p>
            <a:pPr algn="ctr"/>
            <a:r>
              <a:rPr lang="de-DE" sz="900" dirty="0">
                <a:solidFill>
                  <a:srgbClr val="5F492A"/>
                </a:solidFill>
                <a:latin typeface="Century Gothic" panose="020B0502020202020204" pitchFamily="34" charset="0"/>
              </a:rPr>
              <a:t>Container Feeder</a:t>
            </a:r>
          </a:p>
        </p:txBody>
      </p:sp>
      <p:sp>
        <p:nvSpPr>
          <p:cNvPr id="101" name="Textfeld 3">
            <a:extLst>
              <a:ext uri="{FF2B5EF4-FFF2-40B4-BE49-F238E27FC236}">
                <a16:creationId xmlns:a16="http://schemas.microsoft.com/office/drawing/2014/main" id="{321EAA91-563B-4538-A79D-CD9ACD51FD46}"/>
              </a:ext>
            </a:extLst>
          </p:cNvPr>
          <p:cNvSpPr txBox="1"/>
          <p:nvPr/>
        </p:nvSpPr>
        <p:spPr>
          <a:xfrm>
            <a:off x="4799621" y="5649462"/>
            <a:ext cx="828000" cy="30777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700" dirty="0">
                <a:solidFill>
                  <a:srgbClr val="5F492A"/>
                </a:solidFill>
                <a:latin typeface="Century Gothic" panose="020B0502020202020204" pitchFamily="34" charset="0"/>
              </a:rPr>
              <a:t>Debt Deal Consulting</a:t>
            </a:r>
          </a:p>
        </p:txBody>
      </p:sp>
      <p:sp>
        <p:nvSpPr>
          <p:cNvPr id="102" name="Textfeld 39">
            <a:extLst>
              <a:ext uri="{FF2B5EF4-FFF2-40B4-BE49-F238E27FC236}">
                <a16:creationId xmlns:a16="http://schemas.microsoft.com/office/drawing/2014/main" id="{693AA8E0-C6E0-4E94-88A8-91460CEEBED6}"/>
              </a:ext>
            </a:extLst>
          </p:cNvPr>
          <p:cNvSpPr txBox="1"/>
          <p:nvPr/>
        </p:nvSpPr>
        <p:spPr>
          <a:xfrm>
            <a:off x="5775875" y="5623407"/>
            <a:ext cx="82800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800" dirty="0">
                <a:solidFill>
                  <a:srgbClr val="5F492A"/>
                </a:solidFill>
                <a:latin typeface="Century Gothic" panose="020B0502020202020204" pitchFamily="34" charset="0"/>
              </a:rPr>
              <a:t>Charter Parties</a:t>
            </a:r>
          </a:p>
        </p:txBody>
      </p:sp>
      <p:sp>
        <p:nvSpPr>
          <p:cNvPr id="103" name="Textfeld 60">
            <a:extLst>
              <a:ext uri="{FF2B5EF4-FFF2-40B4-BE49-F238E27FC236}">
                <a16:creationId xmlns:a16="http://schemas.microsoft.com/office/drawing/2014/main" id="{FB565B02-4538-457B-BF75-A9AEDF4CA665}"/>
              </a:ext>
            </a:extLst>
          </p:cNvPr>
          <p:cNvSpPr txBox="1"/>
          <p:nvPr/>
        </p:nvSpPr>
        <p:spPr>
          <a:xfrm>
            <a:off x="6749843" y="5649462"/>
            <a:ext cx="818635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800" dirty="0">
                <a:solidFill>
                  <a:srgbClr val="5F492A"/>
                </a:solidFill>
                <a:latin typeface="Century Gothic" panose="020B0502020202020204" pitchFamily="34" charset="0"/>
              </a:rPr>
              <a:t>Auction Sales</a:t>
            </a:r>
          </a:p>
        </p:txBody>
      </p:sp>
      <p:sp>
        <p:nvSpPr>
          <p:cNvPr id="104" name="Textfeld 37">
            <a:extLst>
              <a:ext uri="{FF2B5EF4-FFF2-40B4-BE49-F238E27FC236}">
                <a16:creationId xmlns:a16="http://schemas.microsoft.com/office/drawing/2014/main" id="{2013F3C0-7132-40E4-8CD1-41F8185DBE7E}"/>
              </a:ext>
            </a:extLst>
          </p:cNvPr>
          <p:cNvSpPr txBox="1"/>
          <p:nvPr/>
        </p:nvSpPr>
        <p:spPr>
          <a:xfrm>
            <a:off x="7728384" y="5649462"/>
            <a:ext cx="82800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800" dirty="0">
                <a:solidFill>
                  <a:srgbClr val="5F492A"/>
                </a:solidFill>
                <a:latin typeface="Century Gothic" panose="020B0502020202020204" pitchFamily="34" charset="0"/>
              </a:rPr>
              <a:t>Market Analysis</a:t>
            </a:r>
          </a:p>
        </p:txBody>
      </p:sp>
      <p:sp>
        <p:nvSpPr>
          <p:cNvPr id="105" name="Textfeld 2">
            <a:extLst>
              <a:ext uri="{FF2B5EF4-FFF2-40B4-BE49-F238E27FC236}">
                <a16:creationId xmlns:a16="http://schemas.microsoft.com/office/drawing/2014/main" id="{4E4A2788-5C29-44F5-88D2-A8A895EF74BE}"/>
              </a:ext>
            </a:extLst>
          </p:cNvPr>
          <p:cNvSpPr txBox="1"/>
          <p:nvPr/>
        </p:nvSpPr>
        <p:spPr>
          <a:xfrm>
            <a:off x="4969019" y="5159233"/>
            <a:ext cx="469328" cy="338554"/>
          </a:xfrm>
          <a:prstGeom prst="rect">
            <a:avLst/>
          </a:prstGeom>
          <a:solidFill>
            <a:schemeClr val="bg1">
              <a:lumMod val="85000"/>
              <a:alpha val="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8</a:t>
            </a:r>
          </a:p>
        </p:txBody>
      </p:sp>
      <p:sp>
        <p:nvSpPr>
          <p:cNvPr id="106" name="Textfeld 2">
            <a:extLst>
              <a:ext uri="{FF2B5EF4-FFF2-40B4-BE49-F238E27FC236}">
                <a16:creationId xmlns:a16="http://schemas.microsoft.com/office/drawing/2014/main" id="{A98E08D7-392E-4BA6-AE7E-D67008F3AE8C}"/>
              </a:ext>
            </a:extLst>
          </p:cNvPr>
          <p:cNvSpPr txBox="1"/>
          <p:nvPr/>
        </p:nvSpPr>
        <p:spPr>
          <a:xfrm>
            <a:off x="5951160" y="5159233"/>
            <a:ext cx="469328" cy="338554"/>
          </a:xfrm>
          <a:prstGeom prst="rect">
            <a:avLst/>
          </a:prstGeom>
          <a:solidFill>
            <a:schemeClr val="bg1">
              <a:lumMod val="85000"/>
              <a:alpha val="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18</a:t>
            </a:r>
          </a:p>
        </p:txBody>
      </p:sp>
      <p:sp>
        <p:nvSpPr>
          <p:cNvPr id="107" name="Textfeld 2">
            <a:extLst>
              <a:ext uri="{FF2B5EF4-FFF2-40B4-BE49-F238E27FC236}">
                <a16:creationId xmlns:a16="http://schemas.microsoft.com/office/drawing/2014/main" id="{6483B2D1-84DA-40FA-B145-9A36F3D74B75}"/>
              </a:ext>
            </a:extLst>
          </p:cNvPr>
          <p:cNvSpPr txBox="1"/>
          <p:nvPr/>
        </p:nvSpPr>
        <p:spPr>
          <a:xfrm>
            <a:off x="6933301" y="5159233"/>
            <a:ext cx="469328" cy="338554"/>
          </a:xfrm>
          <a:prstGeom prst="rect">
            <a:avLst/>
          </a:prstGeom>
          <a:solidFill>
            <a:schemeClr val="bg1">
              <a:lumMod val="85000"/>
              <a:alpha val="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7</a:t>
            </a:r>
          </a:p>
        </p:txBody>
      </p:sp>
      <p:sp>
        <p:nvSpPr>
          <p:cNvPr id="108" name="Textfeld 2">
            <a:extLst>
              <a:ext uri="{FF2B5EF4-FFF2-40B4-BE49-F238E27FC236}">
                <a16:creationId xmlns:a16="http://schemas.microsoft.com/office/drawing/2014/main" id="{1CF7490B-9748-49F7-9F5A-5299B0FE9D10}"/>
              </a:ext>
            </a:extLst>
          </p:cNvPr>
          <p:cNvSpPr txBox="1"/>
          <p:nvPr/>
        </p:nvSpPr>
        <p:spPr>
          <a:xfrm>
            <a:off x="7915441" y="5159233"/>
            <a:ext cx="469328" cy="338554"/>
          </a:xfrm>
          <a:prstGeom prst="rect">
            <a:avLst/>
          </a:prstGeom>
          <a:solidFill>
            <a:schemeClr val="bg1">
              <a:lumMod val="85000"/>
              <a:alpha val="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solidFill>
                  <a:schemeClr val="bg1"/>
                </a:solidFill>
                <a:latin typeface="Century Gothic" panose="020B0502020202020204" pitchFamily="34" charset="0"/>
              </a:rPr>
              <a:t>7</a:t>
            </a:r>
          </a:p>
        </p:txBody>
      </p:sp>
      <p:pic>
        <p:nvPicPr>
          <p:cNvPr id="109" name="Picture 1">
            <a:extLst>
              <a:ext uri="{FF2B5EF4-FFF2-40B4-BE49-F238E27FC236}">
                <a16:creationId xmlns:a16="http://schemas.microsoft.com/office/drawing/2014/main" id="{4F1CE508-731D-4274-9515-8CEF61DC3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9124" y="3210898"/>
            <a:ext cx="3341437" cy="303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0" name="Titel 1">
            <a:extLst>
              <a:ext uri="{FF2B5EF4-FFF2-40B4-BE49-F238E27FC236}">
                <a16:creationId xmlns:a16="http://schemas.microsoft.com/office/drawing/2014/main" id="{56800095-8BC7-49CB-A28E-8E07C3EF0280}"/>
              </a:ext>
            </a:extLst>
          </p:cNvPr>
          <p:cNvSpPr txBox="1">
            <a:spLocks/>
          </p:cNvSpPr>
          <p:nvPr/>
        </p:nvSpPr>
        <p:spPr>
          <a:xfrm>
            <a:off x="19656" y="273304"/>
            <a:ext cx="7382973" cy="42471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0" tIns="45720" rIns="91440" bIns="45720" rtlCol="0" anchor="t">
            <a:noAutofit/>
          </a:bodyPr>
          <a:lstStyle>
            <a:lvl1pPr algn="l" defTabSz="4572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sz="1600" kern="1200">
                <a:solidFill>
                  <a:srgbClr val="0083D0"/>
                </a:solidFill>
                <a:latin typeface="Century Gothic"/>
                <a:ea typeface="+mn-ea"/>
                <a:cs typeface="Century Gothic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dirty="0"/>
              <a:t>Liberty Group - Track Record History  </a:t>
            </a:r>
          </a:p>
        </p:txBody>
      </p:sp>
    </p:spTree>
    <p:extLst>
      <p:ext uri="{BB962C8B-B14F-4D97-AF65-F5344CB8AC3E}">
        <p14:creationId xmlns:p14="http://schemas.microsoft.com/office/powerpoint/2010/main" val="2941033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el 1"/>
          <p:cNvSpPr txBox="1">
            <a:spLocks/>
          </p:cNvSpPr>
          <p:nvPr/>
        </p:nvSpPr>
        <p:spPr>
          <a:xfrm>
            <a:off x="432165" y="490136"/>
            <a:ext cx="6934310" cy="42471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0" tIns="45720" rIns="91440" bIns="45720" rtlCol="0" anchor="t">
            <a:noAutofit/>
          </a:bodyPr>
          <a:lstStyle>
            <a:lvl1pPr algn="l" defTabSz="4572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sz="1600" kern="1200">
                <a:solidFill>
                  <a:srgbClr val="0083D0"/>
                </a:solidFill>
                <a:latin typeface="Century Gothic"/>
                <a:ea typeface="+mn-ea"/>
                <a:cs typeface="Century Gothic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/>
              <a:t>Strong and Specialized in MPP and Container sector  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A55F64BF-DAAA-4927-AE85-27AD42E6EAB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0675" y="2320354"/>
            <a:ext cx="2115045" cy="1082065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4B32398B-E6B3-4315-975A-CA06D0BF0B6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495" y="3722356"/>
            <a:ext cx="2113225" cy="1082065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DCFB9E7C-1F76-48D1-934B-0D8372D28B70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6790" y="1063505"/>
            <a:ext cx="2115045" cy="1082065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1227EC64-C16A-4935-9F36-3C9CA5B8AF77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495" y="5094515"/>
            <a:ext cx="2113225" cy="1082065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8A98AFC-93BF-405C-A9B5-9063DAE3B0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9220924"/>
              </p:ext>
            </p:extLst>
          </p:nvPr>
        </p:nvGraphicFramePr>
        <p:xfrm>
          <a:off x="457803" y="914849"/>
          <a:ext cx="6079729" cy="53420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6573">
                  <a:extLst>
                    <a:ext uri="{9D8B030D-6E8A-4147-A177-3AD203B41FA5}">
                      <a16:colId xmlns:a16="http://schemas.microsoft.com/office/drawing/2014/main" val="401277567"/>
                    </a:ext>
                  </a:extLst>
                </a:gridCol>
                <a:gridCol w="664226">
                  <a:extLst>
                    <a:ext uri="{9D8B030D-6E8A-4147-A177-3AD203B41FA5}">
                      <a16:colId xmlns:a16="http://schemas.microsoft.com/office/drawing/2014/main" val="4173958100"/>
                    </a:ext>
                  </a:extLst>
                </a:gridCol>
                <a:gridCol w="1030471">
                  <a:extLst>
                    <a:ext uri="{9D8B030D-6E8A-4147-A177-3AD203B41FA5}">
                      <a16:colId xmlns:a16="http://schemas.microsoft.com/office/drawing/2014/main" val="319735335"/>
                    </a:ext>
                  </a:extLst>
                </a:gridCol>
                <a:gridCol w="607267">
                  <a:extLst>
                    <a:ext uri="{9D8B030D-6E8A-4147-A177-3AD203B41FA5}">
                      <a16:colId xmlns:a16="http://schemas.microsoft.com/office/drawing/2014/main" val="25760586"/>
                    </a:ext>
                  </a:extLst>
                </a:gridCol>
                <a:gridCol w="624920">
                  <a:extLst>
                    <a:ext uri="{9D8B030D-6E8A-4147-A177-3AD203B41FA5}">
                      <a16:colId xmlns:a16="http://schemas.microsoft.com/office/drawing/2014/main" val="3609295461"/>
                    </a:ext>
                  </a:extLst>
                </a:gridCol>
                <a:gridCol w="522532">
                  <a:extLst>
                    <a:ext uri="{9D8B030D-6E8A-4147-A177-3AD203B41FA5}">
                      <a16:colId xmlns:a16="http://schemas.microsoft.com/office/drawing/2014/main" val="3639136262"/>
                    </a:ext>
                  </a:extLst>
                </a:gridCol>
                <a:gridCol w="536654">
                  <a:extLst>
                    <a:ext uri="{9D8B030D-6E8A-4147-A177-3AD203B41FA5}">
                      <a16:colId xmlns:a16="http://schemas.microsoft.com/office/drawing/2014/main" val="1261247558"/>
                    </a:ext>
                  </a:extLst>
                </a:gridCol>
                <a:gridCol w="709655">
                  <a:extLst>
                    <a:ext uri="{9D8B030D-6E8A-4147-A177-3AD203B41FA5}">
                      <a16:colId xmlns:a16="http://schemas.microsoft.com/office/drawing/2014/main" val="331137401"/>
                    </a:ext>
                  </a:extLst>
                </a:gridCol>
                <a:gridCol w="1087431">
                  <a:extLst>
                    <a:ext uri="{9D8B030D-6E8A-4147-A177-3AD203B41FA5}">
                      <a16:colId xmlns:a16="http://schemas.microsoft.com/office/drawing/2014/main" val="3983074571"/>
                    </a:ext>
                  </a:extLst>
                </a:gridCol>
              </a:tblGrid>
              <a:tr h="1460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No.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Type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Shipyard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Gear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Flag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Built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Class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Capacity 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Managers</a:t>
                      </a:r>
                      <a:endParaRPr lang="en-US" sz="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extLst>
                  <a:ext uri="{0D108BD9-81ED-4DB2-BD59-A6C34878D82A}">
                    <a16:rowId xmlns:a16="http://schemas.microsoft.com/office/drawing/2014/main" val="1288068220"/>
                  </a:ext>
                </a:extLst>
              </a:tr>
              <a:tr h="243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F-Type</a:t>
                      </a:r>
                      <a:br>
                        <a:rPr lang="en-US" sz="800" u="none" strike="noStrike">
                          <a:effectLst/>
                        </a:rPr>
                      </a:br>
                      <a:r>
                        <a:rPr lang="en-US" sz="800" u="none" strike="noStrike">
                          <a:effectLst/>
                        </a:rPr>
                        <a:t>MPP heavy lift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CSC Jiangdong Shipyard, China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2x150mt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Antigua &amp; Barbuda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2007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DNV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12.744 dwt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Liberty Blue, Leer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extLst>
                  <a:ext uri="{0D108BD9-81ED-4DB2-BD59-A6C34878D82A}">
                    <a16:rowId xmlns:a16="http://schemas.microsoft.com/office/drawing/2014/main" val="2955344273"/>
                  </a:ext>
                </a:extLst>
              </a:tr>
              <a:tr h="243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F-Type</a:t>
                      </a:r>
                      <a:br>
                        <a:rPr lang="en-US" sz="800" u="none" strike="noStrike">
                          <a:effectLst/>
                        </a:rPr>
                      </a:br>
                      <a:r>
                        <a:rPr lang="en-US" sz="800" u="none" strike="noStrike">
                          <a:effectLst/>
                        </a:rPr>
                        <a:t>MPP heavy lift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CSC Jiangdong Shipyard, China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2x150mt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Antigua &amp; Barbuda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2007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DNV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12.744 dwt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Liberty Blue, Leer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extLst>
                  <a:ext uri="{0D108BD9-81ED-4DB2-BD59-A6C34878D82A}">
                    <a16:rowId xmlns:a16="http://schemas.microsoft.com/office/drawing/2014/main" val="208255198"/>
                  </a:ext>
                </a:extLst>
              </a:tr>
              <a:tr h="243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F-Type</a:t>
                      </a:r>
                      <a:br>
                        <a:rPr lang="en-US" sz="800" u="none" strike="noStrike">
                          <a:effectLst/>
                        </a:rPr>
                      </a:br>
                      <a:r>
                        <a:rPr lang="en-US" sz="800" u="none" strike="noStrike">
                          <a:effectLst/>
                        </a:rPr>
                        <a:t>MPP heavy lift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CSC Jiangdong Shipyard, China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2x150mt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Liberia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2007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DNV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12.744 dwt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Liberty Blue, Leer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extLst>
                  <a:ext uri="{0D108BD9-81ED-4DB2-BD59-A6C34878D82A}">
                    <a16:rowId xmlns:a16="http://schemas.microsoft.com/office/drawing/2014/main" val="1395916775"/>
                  </a:ext>
                </a:extLst>
              </a:tr>
              <a:tr h="243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F-Type</a:t>
                      </a:r>
                      <a:br>
                        <a:rPr lang="en-US" sz="800" u="none" strike="noStrike">
                          <a:effectLst/>
                        </a:rPr>
                      </a:br>
                      <a:r>
                        <a:rPr lang="en-US" sz="800" u="none" strike="noStrike">
                          <a:effectLst/>
                        </a:rPr>
                        <a:t>MPP heavy lift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CSC Jiangdong Shipyard, China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2x150mt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Antigua &amp; Barbuda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2007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DNV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12.744 dwt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Liberty Blue, Leer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extLst>
                  <a:ext uri="{0D108BD9-81ED-4DB2-BD59-A6C34878D82A}">
                    <a16:rowId xmlns:a16="http://schemas.microsoft.com/office/drawing/2014/main" val="3139503836"/>
                  </a:ext>
                </a:extLst>
              </a:tr>
              <a:tr h="3285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MPP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Bodewes Shipyards B.V., Netherland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2x60mt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Malta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2004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DNV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7.750 dwt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Liberty Blue, Leer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extLst>
                  <a:ext uri="{0D108BD9-81ED-4DB2-BD59-A6C34878D82A}">
                    <a16:rowId xmlns:a16="http://schemas.microsoft.com/office/drawing/2014/main" val="2381127106"/>
                  </a:ext>
                </a:extLst>
              </a:tr>
              <a:tr h="3285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MPP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Peterswerft Wewelsfleth, Germany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2x60mt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Antigua &amp; Barbuda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1999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DNV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6.265 dwt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Liberty Blue, Leer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extLst>
                  <a:ext uri="{0D108BD9-81ED-4DB2-BD59-A6C34878D82A}">
                    <a16:rowId xmlns:a16="http://schemas.microsoft.com/office/drawing/2014/main" val="4091012257"/>
                  </a:ext>
                </a:extLst>
              </a:tr>
              <a:tr h="3285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Container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Thyssen Nordseewerke GmbH, Germany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3x45mt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Portugal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2000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DNV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2.472 TEU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Liberty Blue, Leer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extLst>
                  <a:ext uri="{0D108BD9-81ED-4DB2-BD59-A6C34878D82A}">
                    <a16:rowId xmlns:a16="http://schemas.microsoft.com/office/drawing/2014/main" val="2300989252"/>
                  </a:ext>
                </a:extLst>
              </a:tr>
              <a:tr h="3285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Container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l-PL" sz="800" u="none" strike="noStrike">
                          <a:effectLst/>
                        </a:rPr>
                        <a:t>Stocznia Szczecinska S.A, Poland</a:t>
                      </a:r>
                      <a:endParaRPr lang="pl-P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3x40mt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Liberia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1998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DNV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1.730 TEU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Liberty Blue, Leer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extLst>
                  <a:ext uri="{0D108BD9-81ED-4DB2-BD59-A6C34878D82A}">
                    <a16:rowId xmlns:a16="http://schemas.microsoft.com/office/drawing/2014/main" val="2524122019"/>
                  </a:ext>
                </a:extLst>
              </a:tr>
              <a:tr h="3285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Container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Thyssen Nordseewerke GmbH, Germany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3x45mt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Liberia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2000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DNV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2.472 TEU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Liberty Blue, Leer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extLst>
                  <a:ext uri="{0D108BD9-81ED-4DB2-BD59-A6C34878D82A}">
                    <a16:rowId xmlns:a16="http://schemas.microsoft.com/office/drawing/2014/main" val="69366157"/>
                  </a:ext>
                </a:extLst>
              </a:tr>
              <a:tr h="3285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Container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l-PL" sz="800" u="none" strike="noStrike">
                          <a:effectLst/>
                        </a:rPr>
                        <a:t>Stocznia Szczecinska S.A, Poland</a:t>
                      </a:r>
                      <a:endParaRPr lang="pl-PL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3x40mt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Liberia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1998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DNV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1.730 TEU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Liberty Blue, Leer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extLst>
                  <a:ext uri="{0D108BD9-81ED-4DB2-BD59-A6C34878D82A}">
                    <a16:rowId xmlns:a16="http://schemas.microsoft.com/office/drawing/2014/main" val="3210247698"/>
                  </a:ext>
                </a:extLst>
              </a:tr>
              <a:tr h="243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Container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Sedef Shipyard Istanbul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gls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Marshall Islands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2008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ABS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1.880 TEU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Liberty Blue, Leer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extLst>
                  <a:ext uri="{0D108BD9-81ED-4DB2-BD59-A6C34878D82A}">
                    <a16:rowId xmlns:a16="http://schemas.microsoft.com/office/drawing/2014/main" val="1017655892"/>
                  </a:ext>
                </a:extLst>
              </a:tr>
              <a:tr h="21900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General Cargo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Jiangsu Yangzijiang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2 x 25 mt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Portugal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2007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KR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8.000 dwt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Liberty Blue, Leer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extLst>
                  <a:ext uri="{0D108BD9-81ED-4DB2-BD59-A6C34878D82A}">
                    <a16:rowId xmlns:a16="http://schemas.microsoft.com/office/drawing/2014/main" val="3043597239"/>
                  </a:ext>
                </a:extLst>
              </a:tr>
              <a:tr h="243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General Cargo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Jiangsu Yangzijiang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2 x 25 mt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Portugal / Madeira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2006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KR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8.000 dwt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Liberty Blue, Leer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extLst>
                  <a:ext uri="{0D108BD9-81ED-4DB2-BD59-A6C34878D82A}">
                    <a16:rowId xmlns:a16="http://schemas.microsoft.com/office/drawing/2014/main" val="750169701"/>
                  </a:ext>
                </a:extLst>
              </a:tr>
              <a:tr h="243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General Cargo 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Volhardingen Shipyard BV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2 x 40 mt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Portugal / Madeira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2002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KR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8.930 dwt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Liberty Blue, Leer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extLst>
                  <a:ext uri="{0D108BD9-81ED-4DB2-BD59-A6C34878D82A}">
                    <a16:rowId xmlns:a16="http://schemas.microsoft.com/office/drawing/2014/main" val="1030941320"/>
                  </a:ext>
                </a:extLst>
              </a:tr>
              <a:tr h="243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General Cargo 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Volhardingen Shipyard BV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2 x 40 mt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Portugal / Madeira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2001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KR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8.930 dwt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Liberty Blue, Leer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extLst>
                  <a:ext uri="{0D108BD9-81ED-4DB2-BD59-A6C34878D82A}">
                    <a16:rowId xmlns:a16="http://schemas.microsoft.com/office/drawing/2014/main" val="391413099"/>
                  </a:ext>
                </a:extLst>
              </a:tr>
              <a:tr h="243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MPP heavy lift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Wuhu Shipyard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2x350mt</a:t>
                      </a:r>
                      <a:br>
                        <a:rPr lang="en-US" sz="800" u="none" strike="noStrike">
                          <a:effectLst/>
                        </a:rPr>
                      </a:br>
                      <a:r>
                        <a:rPr lang="en-US" sz="800" u="none" strike="noStrike">
                          <a:effectLst/>
                        </a:rPr>
                        <a:t>1x 120mt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Panama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2014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DNV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24.000dwt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Liberty One (Asia),</a:t>
                      </a:r>
                      <a:br>
                        <a:rPr lang="en-US" sz="800" u="none" strike="noStrike">
                          <a:effectLst/>
                        </a:rPr>
                      </a:br>
                      <a:r>
                        <a:rPr lang="en-US" sz="800" u="none" strike="noStrike">
                          <a:effectLst/>
                        </a:rPr>
                        <a:t>Shanghai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extLst>
                  <a:ext uri="{0D108BD9-81ED-4DB2-BD59-A6C34878D82A}">
                    <a16:rowId xmlns:a16="http://schemas.microsoft.com/office/drawing/2014/main" val="3464514651"/>
                  </a:ext>
                </a:extLst>
              </a:tr>
              <a:tr h="243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MPP heavy lift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Wuhu Shipyard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2x350mt</a:t>
                      </a:r>
                      <a:br>
                        <a:rPr lang="en-US" sz="800" u="none" strike="noStrike">
                          <a:effectLst/>
                        </a:rPr>
                      </a:br>
                      <a:r>
                        <a:rPr lang="en-US" sz="800" u="none" strike="noStrike">
                          <a:effectLst/>
                        </a:rPr>
                        <a:t>1x 120mt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Panama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2014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DNV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24.000dwt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Liberty One (Asia),</a:t>
                      </a:r>
                      <a:br>
                        <a:rPr lang="en-US" sz="800" u="none" strike="noStrike">
                          <a:effectLst/>
                        </a:rPr>
                      </a:br>
                      <a:r>
                        <a:rPr lang="en-US" sz="800" u="none" strike="noStrike">
                          <a:effectLst/>
                        </a:rPr>
                        <a:t>Shanghai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extLst>
                  <a:ext uri="{0D108BD9-81ED-4DB2-BD59-A6C34878D82A}">
                    <a16:rowId xmlns:a16="http://schemas.microsoft.com/office/drawing/2014/main" val="3111831379"/>
                  </a:ext>
                </a:extLst>
              </a:tr>
              <a:tr h="243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18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Container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Wadan Yards MTW GmbH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gls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Panama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1999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CCS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34.000dwt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Liberty One (Asia),</a:t>
                      </a:r>
                      <a:br>
                        <a:rPr lang="en-US" sz="800" u="none" strike="noStrike">
                          <a:effectLst/>
                        </a:rPr>
                      </a:br>
                      <a:r>
                        <a:rPr lang="en-US" sz="800" u="none" strike="noStrike">
                          <a:effectLst/>
                        </a:rPr>
                        <a:t>Shanghai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extLst>
                  <a:ext uri="{0D108BD9-81ED-4DB2-BD59-A6C34878D82A}">
                    <a16:rowId xmlns:a16="http://schemas.microsoft.com/office/drawing/2014/main" val="2098218623"/>
                  </a:ext>
                </a:extLst>
              </a:tr>
              <a:tr h="243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19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Container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Imabari Shipbuilding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gls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Panama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1997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RINA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>
                          <a:effectLst/>
                        </a:rPr>
                        <a:t>24.300dwt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u="none" strike="noStrike" dirty="0">
                          <a:effectLst/>
                        </a:rPr>
                        <a:t>Liberty One (Asia),</a:t>
                      </a:r>
                      <a:br>
                        <a:rPr lang="en-US" sz="800" u="none" strike="noStrike" dirty="0">
                          <a:effectLst/>
                        </a:rPr>
                      </a:br>
                      <a:r>
                        <a:rPr lang="en-US" sz="800" u="none" strike="noStrike" dirty="0">
                          <a:effectLst/>
                        </a:rPr>
                        <a:t>Shanghai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656" marR="6656" marT="6656" marB="0" anchor="ctr"/>
                </a:tc>
                <a:extLst>
                  <a:ext uri="{0D108BD9-81ED-4DB2-BD59-A6C34878D82A}">
                    <a16:rowId xmlns:a16="http://schemas.microsoft.com/office/drawing/2014/main" val="3028649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7444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ung 7"/>
          <p:cNvGrpSpPr/>
          <p:nvPr/>
        </p:nvGrpSpPr>
        <p:grpSpPr>
          <a:xfrm>
            <a:off x="3399118" y="1187824"/>
            <a:ext cx="5278156" cy="5051995"/>
            <a:chOff x="3399118" y="1187824"/>
            <a:chExt cx="5278156" cy="5051995"/>
          </a:xfrm>
        </p:grpSpPr>
        <p:sp>
          <p:nvSpPr>
            <p:cNvPr id="5" name="Rechteck 4"/>
            <p:cNvSpPr/>
            <p:nvPr/>
          </p:nvSpPr>
          <p:spPr>
            <a:xfrm>
              <a:off x="3399118" y="1187824"/>
              <a:ext cx="2517588" cy="448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6" name="Rechteck 5"/>
            <p:cNvSpPr/>
            <p:nvPr/>
          </p:nvSpPr>
          <p:spPr>
            <a:xfrm>
              <a:off x="8133415" y="6158881"/>
              <a:ext cx="543859" cy="809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17" name="Textfeld 16"/>
          <p:cNvSpPr txBox="1"/>
          <p:nvPr/>
        </p:nvSpPr>
        <p:spPr>
          <a:xfrm>
            <a:off x="2679590" y="1224680"/>
            <a:ext cx="84189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83D0"/>
                </a:solidFill>
                <a:latin typeface="Century Gothic"/>
                <a:cs typeface="Century Gothic"/>
              </a:rPr>
              <a:t>5.400 TEU </a:t>
            </a:r>
          </a:p>
        </p:txBody>
      </p:sp>
      <p:sp>
        <p:nvSpPr>
          <p:cNvPr id="18" name="Textfeld 17"/>
          <p:cNvSpPr txBox="1"/>
          <p:nvPr/>
        </p:nvSpPr>
        <p:spPr>
          <a:xfrm>
            <a:off x="257505" y="1161231"/>
            <a:ext cx="95090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83D0"/>
                </a:solidFill>
                <a:latin typeface="Century Gothic"/>
                <a:cs typeface="Century Gothic"/>
              </a:rPr>
              <a:t>1.300 TEU – </a:t>
            </a:r>
          </a:p>
          <a:p>
            <a:r>
              <a:rPr lang="en-US" sz="1100" dirty="0">
                <a:solidFill>
                  <a:srgbClr val="0083D0"/>
                </a:solidFill>
                <a:latin typeface="Century Gothic"/>
                <a:cs typeface="Century Gothic"/>
              </a:rPr>
              <a:t>2.500 TEU</a:t>
            </a:r>
          </a:p>
        </p:txBody>
      </p:sp>
      <p:sp>
        <p:nvSpPr>
          <p:cNvPr id="22" name="Textfeld 21"/>
          <p:cNvSpPr txBox="1"/>
          <p:nvPr/>
        </p:nvSpPr>
        <p:spPr>
          <a:xfrm>
            <a:off x="2528348" y="1773096"/>
            <a:ext cx="1209880" cy="1654299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 wrap="square" rtlCol="0">
            <a:spAutoFit/>
          </a:bodyPr>
          <a:lstStyle/>
          <a:p>
            <a:pPr marL="93663" indent="-93663">
              <a:spcAft>
                <a:spcPts val="300"/>
              </a:spcAft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Liberty Blue  employees well experienced with commercial and technical management of such units</a:t>
            </a:r>
          </a:p>
          <a:p>
            <a:pPr marL="93663" indent="-93663">
              <a:spcAft>
                <a:spcPts val="300"/>
              </a:spcAft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New- buildings being set into service in 2009/2010 </a:t>
            </a:r>
          </a:p>
        </p:txBody>
      </p:sp>
      <p:sp>
        <p:nvSpPr>
          <p:cNvPr id="23" name="Textfeld 22"/>
          <p:cNvSpPr txBox="1"/>
          <p:nvPr/>
        </p:nvSpPr>
        <p:spPr>
          <a:xfrm>
            <a:off x="115899" y="1773096"/>
            <a:ext cx="1298789" cy="1377300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 wrap="square" rtlCol="0">
            <a:spAutoFit/>
          </a:bodyPr>
          <a:lstStyle>
            <a:defPPr>
              <a:defRPr lang="de-DE"/>
            </a:defPPr>
            <a:lvl1pPr marL="93663" indent="-93663">
              <a:buFont typeface="Arial"/>
              <a:buChar char="•"/>
              <a:defRPr sz="1000">
                <a:solidFill>
                  <a:srgbClr val="5F492A"/>
                </a:solidFill>
              </a:defRPr>
            </a:lvl1pPr>
          </a:lstStyle>
          <a:p>
            <a:pPr>
              <a:spcAft>
                <a:spcPts val="300"/>
              </a:spcAft>
            </a:pPr>
            <a:r>
              <a:rPr lang="en-US" sz="900" dirty="0">
                <a:latin typeface="Century Gothic"/>
                <a:cs typeface="Century Gothic"/>
              </a:rPr>
              <a:t>Active tonnage under full management with Liberty Blue</a:t>
            </a:r>
          </a:p>
          <a:p>
            <a:pPr>
              <a:spcAft>
                <a:spcPts val="300"/>
              </a:spcAft>
            </a:pPr>
            <a:r>
              <a:rPr lang="en-US" sz="900" dirty="0">
                <a:latin typeface="Century Gothic"/>
                <a:cs typeface="Century Gothic"/>
              </a:rPr>
              <a:t>well experienced staff at Liberty Blue, all being very familiar with feeder tonnage</a:t>
            </a:r>
          </a:p>
        </p:txBody>
      </p:sp>
      <p:sp>
        <p:nvSpPr>
          <p:cNvPr id="24" name="Textfeld 23"/>
          <p:cNvSpPr txBox="1"/>
          <p:nvPr/>
        </p:nvSpPr>
        <p:spPr>
          <a:xfrm>
            <a:off x="1274759" y="1755783"/>
            <a:ext cx="1324062" cy="1100301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 wrap="square" rtlCol="0">
            <a:spAutoFit/>
          </a:bodyPr>
          <a:lstStyle>
            <a:defPPr>
              <a:defRPr lang="de-DE"/>
            </a:defPPr>
            <a:lvl1pPr marL="93663" indent="-93663">
              <a:buFont typeface="Arial"/>
              <a:buChar char="•"/>
              <a:defRPr sz="1000">
                <a:solidFill>
                  <a:srgbClr val="5F492A"/>
                </a:solidFill>
              </a:defRPr>
            </a:lvl1pPr>
          </a:lstStyle>
          <a:p>
            <a:pPr>
              <a:spcAft>
                <a:spcPts val="300"/>
              </a:spcAft>
            </a:pPr>
            <a:r>
              <a:rPr lang="en-US" sz="900" dirty="0">
                <a:latin typeface="Century Gothic"/>
                <a:cs typeface="Century Gothic"/>
              </a:rPr>
              <a:t>Full mgmt. done for 4 x Ex –</a:t>
            </a:r>
            <a:r>
              <a:rPr lang="en-US" sz="900" dirty="0" err="1">
                <a:latin typeface="Century Gothic"/>
                <a:cs typeface="Century Gothic"/>
              </a:rPr>
              <a:t>Hansa</a:t>
            </a:r>
            <a:r>
              <a:rPr lang="en-US" sz="900" dirty="0">
                <a:latin typeface="Century Gothic"/>
                <a:cs typeface="Century Gothic"/>
              </a:rPr>
              <a:t> </a:t>
            </a:r>
            <a:r>
              <a:rPr lang="en-US" sz="900" dirty="0" err="1">
                <a:latin typeface="Century Gothic"/>
                <a:cs typeface="Century Gothic"/>
              </a:rPr>
              <a:t>Treuhand</a:t>
            </a:r>
            <a:r>
              <a:rPr lang="en-US" sz="900" dirty="0">
                <a:latin typeface="Century Gothic"/>
                <a:cs typeface="Century Gothic"/>
              </a:rPr>
              <a:t> units </a:t>
            </a:r>
          </a:p>
          <a:p>
            <a:pPr>
              <a:spcAft>
                <a:spcPts val="300"/>
              </a:spcAft>
            </a:pPr>
            <a:r>
              <a:rPr lang="en-US" sz="900" dirty="0">
                <a:latin typeface="Century Gothic"/>
                <a:cs typeface="Century Gothic"/>
              </a:rPr>
              <a:t>2 x 5.000 TEU successfully operated until its sales mid of 2017</a:t>
            </a:r>
          </a:p>
        </p:txBody>
      </p:sp>
      <p:sp>
        <p:nvSpPr>
          <p:cNvPr id="43" name="Titel 1"/>
          <p:cNvSpPr txBox="1">
            <a:spLocks/>
          </p:cNvSpPr>
          <p:nvPr/>
        </p:nvSpPr>
        <p:spPr>
          <a:xfrm>
            <a:off x="60780" y="231202"/>
            <a:ext cx="7673663" cy="42471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0" tIns="45720" rIns="91440" bIns="45720" rtlCol="0" anchor="t">
            <a:noAutofit/>
          </a:bodyPr>
          <a:lstStyle>
            <a:lvl1pPr algn="l" defTabSz="4572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sz="1600" kern="1200">
                <a:solidFill>
                  <a:srgbClr val="0083D0"/>
                </a:solidFill>
                <a:latin typeface="Century Gothic"/>
                <a:ea typeface="+mn-ea"/>
                <a:cs typeface="Century Gothic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en-US" dirty="0"/>
              <a:t>Liberty Group Experience (extract) - Ship &amp; Project Management</a:t>
            </a:r>
          </a:p>
        </p:txBody>
      </p:sp>
      <p:sp>
        <p:nvSpPr>
          <p:cNvPr id="53" name="Textfeld 52"/>
          <p:cNvSpPr txBox="1"/>
          <p:nvPr/>
        </p:nvSpPr>
        <p:spPr>
          <a:xfrm>
            <a:off x="1480989" y="1140042"/>
            <a:ext cx="91242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83D0"/>
                </a:solidFill>
                <a:latin typeface="Century Gothic"/>
                <a:cs typeface="Century Gothic"/>
              </a:rPr>
              <a:t>3.500 TEU– </a:t>
            </a:r>
          </a:p>
          <a:p>
            <a:r>
              <a:rPr lang="en-US" sz="1100" dirty="0">
                <a:solidFill>
                  <a:srgbClr val="0083D0"/>
                </a:solidFill>
                <a:latin typeface="Century Gothic"/>
                <a:cs typeface="Century Gothic"/>
              </a:rPr>
              <a:t>5.000 TEU</a:t>
            </a:r>
          </a:p>
        </p:txBody>
      </p:sp>
      <p:sp>
        <p:nvSpPr>
          <p:cNvPr id="54" name="Textfeld 53"/>
          <p:cNvSpPr txBox="1"/>
          <p:nvPr/>
        </p:nvSpPr>
        <p:spPr>
          <a:xfrm>
            <a:off x="3801843" y="1110410"/>
            <a:ext cx="102143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83D0"/>
                </a:solidFill>
                <a:latin typeface="Century Gothic"/>
                <a:cs typeface="Century Gothic"/>
              </a:rPr>
              <a:t>Bulker up to </a:t>
            </a:r>
          </a:p>
          <a:p>
            <a:r>
              <a:rPr lang="en-US" sz="1100" dirty="0">
                <a:solidFill>
                  <a:srgbClr val="0083D0"/>
                </a:solidFill>
                <a:latin typeface="Century Gothic"/>
                <a:cs typeface="Century Gothic"/>
              </a:rPr>
              <a:t>92.500 </a:t>
            </a:r>
            <a:r>
              <a:rPr lang="en-US" sz="1100" dirty="0" err="1">
                <a:solidFill>
                  <a:srgbClr val="0083D0"/>
                </a:solidFill>
                <a:latin typeface="Century Gothic"/>
                <a:cs typeface="Century Gothic"/>
              </a:rPr>
              <a:t>tdw</a:t>
            </a:r>
            <a:endParaRPr lang="en-US" sz="1100" dirty="0">
              <a:solidFill>
                <a:srgbClr val="0083D0"/>
              </a:solidFill>
              <a:latin typeface="Century Gothic"/>
              <a:cs typeface="Century Gothic"/>
            </a:endParaRPr>
          </a:p>
        </p:txBody>
      </p:sp>
      <p:sp>
        <p:nvSpPr>
          <p:cNvPr id="56" name="Textfeld 55"/>
          <p:cNvSpPr txBox="1"/>
          <p:nvPr/>
        </p:nvSpPr>
        <p:spPr>
          <a:xfrm>
            <a:off x="3640648" y="1724801"/>
            <a:ext cx="1450539" cy="2223686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 wrap="square" rtlCol="0">
            <a:spAutoFit/>
          </a:bodyPr>
          <a:lstStyle/>
          <a:p>
            <a:pPr marL="93663" indent="-93663">
              <a:spcAft>
                <a:spcPts val="300"/>
              </a:spcAft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58.000 dwt for technically managed for French clients </a:t>
            </a:r>
          </a:p>
          <a:p>
            <a:pPr marL="93663" indent="-93663">
              <a:spcAft>
                <a:spcPts val="300"/>
              </a:spcAft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2 x 73.400 dwt for auction</a:t>
            </a:r>
          </a:p>
          <a:p>
            <a:pPr marL="93663" indent="-93663">
              <a:spcAft>
                <a:spcPts val="300"/>
              </a:spcAft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3 x 92.500 dwt managed in 2014/2015  </a:t>
            </a:r>
          </a:p>
          <a:p>
            <a:pPr marL="93663" indent="-93663">
              <a:spcAft>
                <a:spcPts val="300"/>
              </a:spcAft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2 x 56.800 dwt for a German bank in 2015</a:t>
            </a:r>
          </a:p>
          <a:p>
            <a:pPr marL="93663" indent="-93663">
              <a:spcAft>
                <a:spcPts val="300"/>
              </a:spcAft>
              <a:buFont typeface="Arial"/>
              <a:buChar char="•"/>
            </a:pPr>
            <a:endParaRPr lang="en-US" sz="900" dirty="0">
              <a:solidFill>
                <a:srgbClr val="5F492A"/>
              </a:solidFill>
              <a:latin typeface="Century Gothic"/>
              <a:cs typeface="Century Gothic"/>
            </a:endParaRPr>
          </a:p>
          <a:p>
            <a:pPr marL="93663" indent="-93663">
              <a:spcAft>
                <a:spcPts val="300"/>
              </a:spcAft>
              <a:buFont typeface="Arial"/>
              <a:buChar char="•"/>
            </a:pPr>
            <a:endParaRPr lang="en-US" sz="900" dirty="0">
              <a:solidFill>
                <a:srgbClr val="5F492A"/>
              </a:solidFill>
              <a:latin typeface="Century Gothic"/>
              <a:cs typeface="Century Gothic"/>
            </a:endParaRPr>
          </a:p>
        </p:txBody>
      </p:sp>
      <p:sp>
        <p:nvSpPr>
          <p:cNvPr id="25" name="Textfeld 24"/>
          <p:cNvSpPr txBox="1"/>
          <p:nvPr/>
        </p:nvSpPr>
        <p:spPr>
          <a:xfrm>
            <a:off x="5261606" y="1226547"/>
            <a:ext cx="6303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83D0"/>
                </a:solidFill>
                <a:latin typeface="Century Gothic"/>
                <a:cs typeface="Century Gothic"/>
              </a:rPr>
              <a:t>Tanker</a:t>
            </a:r>
          </a:p>
        </p:txBody>
      </p:sp>
      <p:sp>
        <p:nvSpPr>
          <p:cNvPr id="26" name="Textfeld 25"/>
          <p:cNvSpPr txBox="1"/>
          <p:nvPr/>
        </p:nvSpPr>
        <p:spPr>
          <a:xfrm>
            <a:off x="4989994" y="1730542"/>
            <a:ext cx="1379451" cy="961802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 wrap="square" rtlCol="0">
            <a:spAutoFit/>
          </a:bodyPr>
          <a:lstStyle/>
          <a:p>
            <a:pPr marL="93663" indent="-93663">
              <a:spcAft>
                <a:spcPts val="300"/>
              </a:spcAft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Project of 3x 6.200 dwt chemical tankers in 2014</a:t>
            </a:r>
          </a:p>
          <a:p>
            <a:pPr marL="93663" indent="-93663">
              <a:spcAft>
                <a:spcPts val="300"/>
              </a:spcAft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Project of one </a:t>
            </a:r>
            <a:r>
              <a:rPr lang="en-US" sz="900" dirty="0" err="1">
                <a:solidFill>
                  <a:srgbClr val="5F492A"/>
                </a:solidFill>
                <a:latin typeface="Century Gothic"/>
                <a:cs typeface="Century Gothic"/>
              </a:rPr>
              <a:t>Suezmax</a:t>
            </a: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 tanker in 2015</a:t>
            </a:r>
          </a:p>
        </p:txBody>
      </p:sp>
      <p:sp>
        <p:nvSpPr>
          <p:cNvPr id="28" name="Textfeld 27"/>
          <p:cNvSpPr txBox="1"/>
          <p:nvPr/>
        </p:nvSpPr>
        <p:spPr>
          <a:xfrm>
            <a:off x="7734443" y="1229716"/>
            <a:ext cx="12234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83D0"/>
                </a:solidFill>
                <a:latin typeface="Century Gothic"/>
                <a:cs typeface="Century Gothic"/>
              </a:rPr>
              <a:t>General Cargo</a:t>
            </a:r>
          </a:p>
        </p:txBody>
      </p:sp>
      <p:sp>
        <p:nvSpPr>
          <p:cNvPr id="29" name="Textfeld 28"/>
          <p:cNvSpPr txBox="1"/>
          <p:nvPr/>
        </p:nvSpPr>
        <p:spPr>
          <a:xfrm>
            <a:off x="6675234" y="1231825"/>
            <a:ext cx="48122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83D0"/>
                </a:solidFill>
                <a:latin typeface="Century Gothic"/>
                <a:cs typeface="Century Gothic"/>
              </a:rPr>
              <a:t>MPP</a:t>
            </a:r>
          </a:p>
        </p:txBody>
      </p:sp>
      <p:sp>
        <p:nvSpPr>
          <p:cNvPr id="30" name="Textfeld 29"/>
          <p:cNvSpPr txBox="1"/>
          <p:nvPr/>
        </p:nvSpPr>
        <p:spPr>
          <a:xfrm>
            <a:off x="6310691" y="1723688"/>
            <a:ext cx="1423752" cy="1554272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 wrap="square" rtlCol="0">
            <a:spAutoFit/>
          </a:bodyPr>
          <a:lstStyle/>
          <a:p>
            <a:pPr marL="93663" indent="-93663">
              <a:spcAft>
                <a:spcPts val="300"/>
              </a:spcAft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10 yrs. of technical mgmt. done for 2 x 33.000 </a:t>
            </a:r>
            <a:r>
              <a:rPr lang="en-US" sz="900" dirty="0" err="1">
                <a:solidFill>
                  <a:srgbClr val="5F492A"/>
                </a:solidFill>
                <a:latin typeface="Century Gothic"/>
                <a:cs typeface="Century Gothic"/>
              </a:rPr>
              <a:t>tdw</a:t>
            </a: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 with 4 x 60mt lifting capacity </a:t>
            </a:r>
          </a:p>
          <a:p>
            <a:pPr marL="93663" indent="-93663">
              <a:spcAft>
                <a:spcPts val="300"/>
              </a:spcAft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4 x F-Type 12.500 </a:t>
            </a:r>
            <a:r>
              <a:rPr lang="en-US" sz="900" dirty="0" err="1">
                <a:solidFill>
                  <a:srgbClr val="5F492A"/>
                </a:solidFill>
                <a:latin typeface="Century Gothic"/>
                <a:cs typeface="Century Gothic"/>
              </a:rPr>
              <a:t>tdw</a:t>
            </a: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 units with max lifting capacity of 360 tons under full mgmt.</a:t>
            </a:r>
          </a:p>
          <a:p>
            <a:pPr marL="93663" indent="-93663">
              <a:spcAft>
                <a:spcPts val="300"/>
              </a:spcAft>
              <a:buFont typeface="Arial"/>
              <a:buChar char="•"/>
            </a:pPr>
            <a:endParaRPr lang="en-US" sz="900" dirty="0">
              <a:solidFill>
                <a:srgbClr val="5F492A"/>
              </a:solidFill>
              <a:latin typeface="Century Gothic"/>
              <a:cs typeface="Century Gothic"/>
            </a:endParaRPr>
          </a:p>
        </p:txBody>
      </p:sp>
      <p:sp>
        <p:nvSpPr>
          <p:cNvPr id="31" name="Textfeld 30"/>
          <p:cNvSpPr txBox="1"/>
          <p:nvPr/>
        </p:nvSpPr>
        <p:spPr>
          <a:xfrm>
            <a:off x="7663650" y="1692911"/>
            <a:ext cx="1364998" cy="1515800"/>
          </a:xfrm>
          <a:prstGeom prst="rect">
            <a:avLst/>
          </a:prstGeom>
          <a:solidFill>
            <a:srgbClr val="FFFFFF">
              <a:alpha val="70000"/>
            </a:srgbClr>
          </a:solidFill>
        </p:spPr>
        <p:txBody>
          <a:bodyPr wrap="square" rtlCol="0">
            <a:spAutoFit/>
          </a:bodyPr>
          <a:lstStyle/>
          <a:p>
            <a:pPr marL="93663" indent="-93663">
              <a:spcAft>
                <a:spcPts val="300"/>
              </a:spcAft>
              <a:buFont typeface="Arial"/>
              <a:buChar char="•"/>
            </a:pP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Active single deck and </a:t>
            </a:r>
            <a:r>
              <a:rPr lang="en-US" sz="900" dirty="0" err="1">
                <a:solidFill>
                  <a:srgbClr val="5F492A"/>
                </a:solidFill>
                <a:latin typeface="Century Gothic"/>
                <a:cs typeface="Century Gothic"/>
              </a:rPr>
              <a:t>tweendeck</a:t>
            </a: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 tonnage between 7.750 </a:t>
            </a:r>
            <a:r>
              <a:rPr lang="en-US" sz="900" dirty="0" err="1">
                <a:solidFill>
                  <a:srgbClr val="5F492A"/>
                </a:solidFill>
                <a:latin typeface="Century Gothic"/>
                <a:cs typeface="Century Gothic"/>
              </a:rPr>
              <a:t>tdw</a:t>
            </a: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 and 9.250 </a:t>
            </a:r>
            <a:r>
              <a:rPr lang="en-US" sz="900" dirty="0" err="1">
                <a:solidFill>
                  <a:srgbClr val="5F492A"/>
                </a:solidFill>
                <a:latin typeface="Century Gothic"/>
                <a:cs typeface="Century Gothic"/>
              </a:rPr>
              <a:t>tdw</a:t>
            </a:r>
            <a:r>
              <a:rPr lang="en-US" sz="900" dirty="0">
                <a:solidFill>
                  <a:srgbClr val="5F492A"/>
                </a:solidFill>
                <a:latin typeface="Century Gothic"/>
                <a:cs typeface="Century Gothic"/>
              </a:rPr>
              <a:t> under full and/or technical mgmt. with lifting capacities of max. 120tons</a:t>
            </a:r>
          </a:p>
          <a:p>
            <a:pPr marL="93663" indent="-93663">
              <a:spcAft>
                <a:spcPts val="300"/>
              </a:spcAft>
              <a:buFont typeface="Arial"/>
              <a:buChar char="•"/>
            </a:pPr>
            <a:endParaRPr lang="en-US" sz="900" dirty="0">
              <a:solidFill>
                <a:srgbClr val="5F492A"/>
              </a:solidFill>
              <a:latin typeface="Century Gothic"/>
              <a:cs typeface="Century Gothic"/>
            </a:endParaRPr>
          </a:p>
        </p:txBody>
      </p:sp>
      <p:cxnSp>
        <p:nvCxnSpPr>
          <p:cNvPr id="9" name="Gerader Verbinder 8"/>
          <p:cNvCxnSpPr/>
          <p:nvPr/>
        </p:nvCxnSpPr>
        <p:spPr>
          <a:xfrm>
            <a:off x="35689" y="1592118"/>
            <a:ext cx="90840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Grafik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505" y="3986064"/>
            <a:ext cx="3544338" cy="1947955"/>
          </a:xfrm>
          <a:prstGeom prst="rect">
            <a:avLst/>
          </a:prstGeom>
        </p:spPr>
      </p:pic>
      <p:pic>
        <p:nvPicPr>
          <p:cNvPr id="2" name="Grafik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0711" y="3986065"/>
            <a:ext cx="3531489" cy="1947954"/>
          </a:xfrm>
          <a:prstGeom prst="rect">
            <a:avLst/>
          </a:prstGeom>
        </p:spPr>
      </p:pic>
      <p:cxnSp>
        <p:nvCxnSpPr>
          <p:cNvPr id="27" name="Gerader Verbinder 26"/>
          <p:cNvCxnSpPr/>
          <p:nvPr/>
        </p:nvCxnSpPr>
        <p:spPr>
          <a:xfrm>
            <a:off x="35689" y="3615828"/>
            <a:ext cx="908402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hteck 2">
            <a:extLst>
              <a:ext uri="{FF2B5EF4-FFF2-40B4-BE49-F238E27FC236}">
                <a16:creationId xmlns:a16="http://schemas.microsoft.com/office/drawing/2014/main" id="{24CDDCE1-A29B-47F3-BCD6-A2810A5E475A}"/>
              </a:ext>
            </a:extLst>
          </p:cNvPr>
          <p:cNvSpPr/>
          <p:nvPr/>
        </p:nvSpPr>
        <p:spPr>
          <a:xfrm rot="212915">
            <a:off x="2129954" y="5400916"/>
            <a:ext cx="548948" cy="4571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B45DA64C-73A9-4DF7-8BBB-6B3AE4CEEBB0}"/>
              </a:ext>
            </a:extLst>
          </p:cNvPr>
          <p:cNvSpPr txBox="1"/>
          <p:nvPr/>
        </p:nvSpPr>
        <p:spPr>
          <a:xfrm>
            <a:off x="1175710" y="668634"/>
            <a:ext cx="54438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100" dirty="0">
                <a:solidFill>
                  <a:srgbClr val="0083D0"/>
                </a:solidFill>
                <a:latin typeface="Century Gothic"/>
                <a:cs typeface="Century Gothic"/>
              </a:rPr>
              <a:t>always ready to take further vessels  into our management on short notice </a:t>
            </a:r>
          </a:p>
        </p:txBody>
      </p:sp>
      <p:pic>
        <p:nvPicPr>
          <p:cNvPr id="7" name="Bild 4">
            <a:extLst>
              <a:ext uri="{FF2B5EF4-FFF2-40B4-BE49-F238E27FC236}">
                <a16:creationId xmlns:a16="http://schemas.microsoft.com/office/drawing/2014/main" id="{B1A8CD70-BE76-4E1C-B7F3-1E595A72722E}"/>
              </a:ext>
            </a:extLst>
          </p:cNvPr>
          <p:cNvPicPr/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75" r="30303" b="45331"/>
          <a:stretch/>
        </p:blipFill>
        <p:spPr>
          <a:xfrm>
            <a:off x="4262067" y="4708231"/>
            <a:ext cx="791689" cy="646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811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在船上&#10;&#10;中度可信度描述已自动生成">
            <a:extLst>
              <a:ext uri="{FF2B5EF4-FFF2-40B4-BE49-F238E27FC236}">
                <a16:creationId xmlns:a16="http://schemas.microsoft.com/office/drawing/2014/main" id="{0140688B-08FB-4BDB-A413-61C7C18540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41" r="14398"/>
          <a:stretch/>
        </p:blipFill>
        <p:spPr>
          <a:xfrm>
            <a:off x="6038260" y="1450378"/>
            <a:ext cx="2739125" cy="4623153"/>
          </a:xfrm>
          <a:prstGeom prst="rect">
            <a:avLst/>
          </a:prstGeom>
        </p:spPr>
      </p:pic>
      <p:pic>
        <p:nvPicPr>
          <p:cNvPr id="11" name="Picture 10" descr="A picture containing boat, water, sky, outdoor&#10;&#10;Description automatically generated">
            <a:extLst>
              <a:ext uri="{FF2B5EF4-FFF2-40B4-BE49-F238E27FC236}">
                <a16:creationId xmlns:a16="http://schemas.microsoft.com/office/drawing/2014/main" id="{BF829A43-2EF8-43F1-A417-75A573CE248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1" r="3235"/>
          <a:stretch/>
        </p:blipFill>
        <p:spPr>
          <a:xfrm>
            <a:off x="260388" y="3908527"/>
            <a:ext cx="2737993" cy="216500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3D39CD9-AEF0-460A-AD52-2B89E562F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23442"/>
            <a:ext cx="6960550" cy="452689"/>
          </a:xfrm>
        </p:spPr>
        <p:txBody>
          <a:bodyPr/>
          <a:lstStyle/>
          <a:p>
            <a:r>
              <a:rPr lang="en-US" altLang="zh-CN" dirty="0"/>
              <a:t>Liberty One Asia Fleet - MPP</a:t>
            </a:r>
            <a:endParaRPr lang="zh-CN" altLang="en-US" dirty="0"/>
          </a:p>
        </p:txBody>
      </p:sp>
      <p:pic>
        <p:nvPicPr>
          <p:cNvPr id="7" name="Picture 6" descr="A picture containing water, outdoor&#10;&#10;Description automatically generated">
            <a:extLst>
              <a:ext uri="{FF2B5EF4-FFF2-40B4-BE49-F238E27FC236}">
                <a16:creationId xmlns:a16="http://schemas.microsoft.com/office/drawing/2014/main" id="{D6BE4539-BA48-4DA4-9CAD-67CB87730BB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8444" r="36378"/>
          <a:stretch/>
        </p:blipFill>
        <p:spPr>
          <a:xfrm>
            <a:off x="259256" y="1450379"/>
            <a:ext cx="2739125" cy="22860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4ABFC1-3405-91EC-5002-7C51ACDA3D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5741" y="1450378"/>
            <a:ext cx="2737993" cy="4647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487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F92F1E04-712F-4CE7-BDCA-774069FD503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b="24204"/>
          <a:stretch/>
        </p:blipFill>
        <p:spPr>
          <a:xfrm>
            <a:off x="6304541" y="1194577"/>
            <a:ext cx="2658819" cy="1439596"/>
          </a:xfrm>
          <a:prstGeom prst="rect">
            <a:avLst/>
          </a:prstGeom>
        </p:spPr>
      </p:pic>
      <p:pic>
        <p:nvPicPr>
          <p:cNvPr id="11" name="图片 10" descr="图形用户界面&#10;&#10;描述已自动生成">
            <a:extLst>
              <a:ext uri="{FF2B5EF4-FFF2-40B4-BE49-F238E27FC236}">
                <a16:creationId xmlns:a16="http://schemas.microsoft.com/office/drawing/2014/main" id="{8EFFEE61-024E-4FC0-9165-95F12C205E1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158"/>
          <a:stretch/>
        </p:blipFill>
        <p:spPr>
          <a:xfrm>
            <a:off x="569426" y="1200410"/>
            <a:ext cx="2658817" cy="1433763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3D39CD9-AEF0-460A-AD52-2B89E562F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23442"/>
            <a:ext cx="6960550" cy="452689"/>
          </a:xfrm>
        </p:spPr>
        <p:txBody>
          <a:bodyPr/>
          <a:lstStyle/>
          <a:p>
            <a:r>
              <a:rPr lang="en-US" altLang="zh-CN" dirty="0"/>
              <a:t>Liberty One Asia Fleet - Container</a:t>
            </a:r>
            <a:endParaRPr lang="zh-CN" altLang="en-US" dirty="0"/>
          </a:p>
        </p:txBody>
      </p:sp>
      <p:pic>
        <p:nvPicPr>
          <p:cNvPr id="4" name="图片 3" descr="水中的轮船&#10;&#10;描述已自动生成">
            <a:extLst>
              <a:ext uri="{FF2B5EF4-FFF2-40B4-BE49-F238E27FC236}">
                <a16:creationId xmlns:a16="http://schemas.microsoft.com/office/drawing/2014/main" id="{8AA8FA1B-1777-4BC4-B860-2B83B29E7CE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145" t="4395" r="12228"/>
          <a:stretch/>
        </p:blipFill>
        <p:spPr>
          <a:xfrm>
            <a:off x="3447323" y="1194577"/>
            <a:ext cx="2775825" cy="226351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406E3DC-475E-4B03-8178-5EC8D01E78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7323" y="3729901"/>
            <a:ext cx="2775826" cy="232692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809D478-4347-0A69-6A7D-22E2B60EAF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4543" y="2634173"/>
            <a:ext cx="2658817" cy="3599008"/>
          </a:xfrm>
          <a:prstGeom prst="rect">
            <a:avLst/>
          </a:prstGeom>
        </p:spPr>
      </p:pic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11C0F1E0-1A71-A260-F7EE-981D06C88A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8"/>
          <a:stretch>
            <a:fillRect/>
          </a:stretch>
        </p:blipFill>
        <p:spPr>
          <a:xfrm>
            <a:off x="563495" y="2634173"/>
            <a:ext cx="2658817" cy="3599008"/>
          </a:xfrm>
        </p:spPr>
      </p:pic>
    </p:spTree>
    <p:extLst>
      <p:ext uri="{BB962C8B-B14F-4D97-AF65-F5344CB8AC3E}">
        <p14:creationId xmlns:p14="http://schemas.microsoft.com/office/powerpoint/2010/main" val="16292932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1"/>
          <p:cNvSpPr txBox="1">
            <a:spLocks/>
          </p:cNvSpPr>
          <p:nvPr/>
        </p:nvSpPr>
        <p:spPr>
          <a:xfrm>
            <a:off x="371818" y="410245"/>
            <a:ext cx="7025243" cy="424713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0" tIns="45720" rIns="91440" bIns="45720" rtlCol="0" anchor="t">
            <a:noAutofit/>
          </a:bodyPr>
          <a:lstStyle>
            <a:lvl1pPr algn="l" defTabSz="457200" rtl="0" eaLnBrk="1" latinLnBrk="0" hangingPunct="1">
              <a:lnSpc>
                <a:spcPct val="130000"/>
              </a:lnSpc>
              <a:spcBef>
                <a:spcPct val="0"/>
              </a:spcBef>
              <a:buNone/>
              <a:defRPr sz="1600" kern="1200">
                <a:solidFill>
                  <a:srgbClr val="0083D0"/>
                </a:solidFill>
                <a:latin typeface="Century Gothic"/>
                <a:ea typeface="+mn-ea"/>
                <a:cs typeface="Century Gothic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de-DE" dirty="0"/>
              <a:t>Contact</a:t>
            </a:r>
          </a:p>
          <a:p>
            <a:pPr algn="ctr">
              <a:spcAft>
                <a:spcPts val="600"/>
              </a:spcAft>
            </a:pPr>
            <a:endParaRPr lang="de-DE" dirty="0">
              <a:solidFill>
                <a:srgbClr val="0083FF"/>
              </a:solidFill>
            </a:endParaRPr>
          </a:p>
        </p:txBody>
      </p:sp>
      <p:sp>
        <p:nvSpPr>
          <p:cNvPr id="17" name="Textfeld 12">
            <a:extLst>
              <a:ext uri="{FF2B5EF4-FFF2-40B4-BE49-F238E27FC236}">
                <a16:creationId xmlns:a16="http://schemas.microsoft.com/office/drawing/2014/main" id="{78563A50-EDCB-40CC-A966-0A59E11718C3}"/>
              </a:ext>
            </a:extLst>
          </p:cNvPr>
          <p:cNvSpPr txBox="1"/>
          <p:nvPr/>
        </p:nvSpPr>
        <p:spPr>
          <a:xfrm>
            <a:off x="5371915" y="4730431"/>
            <a:ext cx="2816448" cy="151887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>
            <a:defPPr>
              <a:defRPr lang="de-DE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CEA202"/>
                </a:solidFill>
                <a:latin typeface="Century Gothic"/>
                <a:cs typeface="Century Gothic"/>
              </a:rPr>
              <a:t>Capital Liberty Invest (C L I) </a:t>
            </a:r>
          </a:p>
          <a:p>
            <a:pPr>
              <a:lnSpc>
                <a:spcPct val="110000"/>
              </a:lnSpc>
            </a:pPr>
            <a:endParaRPr lang="de-DE" sz="900" dirty="0">
              <a:solidFill>
                <a:srgbClr val="5F492A"/>
              </a:solidFill>
              <a:latin typeface="Century Gothic"/>
              <a:cs typeface="Century Gothic"/>
            </a:endParaRPr>
          </a:p>
          <a:p>
            <a:pPr>
              <a:lnSpc>
                <a:spcPct val="110000"/>
              </a:lnSpc>
            </a:pPr>
            <a:endParaRPr lang="de-DE" sz="900" dirty="0">
              <a:solidFill>
                <a:srgbClr val="5F492A"/>
              </a:solidFill>
              <a:latin typeface="Century Gothic"/>
              <a:cs typeface="Century Gothic"/>
            </a:endParaRPr>
          </a:p>
          <a:p>
            <a:r>
              <a:rPr lang="de-AT" sz="900" dirty="0">
                <a:solidFill>
                  <a:srgbClr val="5F492A"/>
                </a:solidFill>
                <a:latin typeface="Century Gothic"/>
                <a:cs typeface="Century Gothic"/>
              </a:rPr>
              <a:t>Domshof 22</a:t>
            </a:r>
          </a:p>
          <a:p>
            <a:r>
              <a:rPr lang="nl-NL" sz="900" dirty="0">
                <a:solidFill>
                  <a:srgbClr val="5F492A"/>
                </a:solidFill>
                <a:latin typeface="Century Gothic"/>
                <a:cs typeface="Century Gothic"/>
              </a:rPr>
              <a:t>28195 Bremen</a:t>
            </a:r>
            <a:r>
              <a:rPr lang="de-DE" sz="900" dirty="0">
                <a:solidFill>
                  <a:srgbClr val="5F492A"/>
                </a:solidFill>
                <a:latin typeface="Century Gothic"/>
                <a:cs typeface="Century Gothic"/>
              </a:rPr>
              <a:t>		</a:t>
            </a:r>
          </a:p>
          <a:p>
            <a:r>
              <a:rPr lang="de-DE" sz="900" dirty="0">
                <a:solidFill>
                  <a:srgbClr val="5F492A"/>
                </a:solidFill>
                <a:latin typeface="Century Gothic"/>
                <a:cs typeface="Century Gothic"/>
              </a:rPr>
              <a:t>	</a:t>
            </a:r>
          </a:p>
          <a:p>
            <a:r>
              <a:rPr lang="de-DE" sz="900" dirty="0">
                <a:solidFill>
                  <a:srgbClr val="5F492A"/>
                </a:solidFill>
                <a:latin typeface="Century Gothic"/>
                <a:cs typeface="Century Gothic"/>
              </a:rPr>
              <a:t>		</a:t>
            </a:r>
            <a:br>
              <a:rPr lang="de-DE" sz="900" dirty="0">
                <a:solidFill>
                  <a:srgbClr val="5F492A"/>
                </a:solidFill>
                <a:latin typeface="Century Gothic"/>
                <a:cs typeface="Century Gothic"/>
              </a:rPr>
            </a:br>
            <a:r>
              <a:rPr lang="de-DE" sz="900" dirty="0">
                <a:solidFill>
                  <a:srgbClr val="5F492A"/>
                </a:solidFill>
                <a:latin typeface="Century Gothic"/>
                <a:cs typeface="Century Gothic"/>
              </a:rPr>
              <a:t>Phone  +49 421 408 940-0		</a:t>
            </a:r>
            <a:br>
              <a:rPr lang="de-DE" sz="900" dirty="0">
                <a:solidFill>
                  <a:srgbClr val="5F492A"/>
                </a:solidFill>
                <a:latin typeface="Century Gothic"/>
                <a:cs typeface="Century Gothic"/>
              </a:rPr>
            </a:br>
            <a:r>
              <a:rPr lang="de-DE" sz="900" dirty="0">
                <a:solidFill>
                  <a:srgbClr val="5F492A"/>
                </a:solidFill>
                <a:latin typeface="Century Gothic"/>
                <a:cs typeface="Century Gothic"/>
              </a:rPr>
              <a:t>dietrich.schulz@liberty-one.biz</a:t>
            </a:r>
          </a:p>
          <a:p>
            <a:r>
              <a:rPr lang="de-DE" sz="900" dirty="0">
                <a:solidFill>
                  <a:srgbClr val="5F492A"/>
                </a:solidFill>
                <a:latin typeface="Century Gothic"/>
                <a:cs typeface="Century Gothic"/>
              </a:rPr>
              <a:t>www.liberty-one.biz</a:t>
            </a: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BFD860F5-6D67-4238-B65C-342C46FC2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3362" y="5438037"/>
            <a:ext cx="985554" cy="487303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E6AC9860-1C82-41A9-A213-51CC67C1CA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580" y="1008077"/>
            <a:ext cx="2880632" cy="1405439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99037218-BB1F-4405-92AF-E85D086702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6212" y="1003225"/>
            <a:ext cx="2880632" cy="1412363"/>
          </a:xfrm>
          <a:prstGeom prst="rect">
            <a:avLst/>
          </a:prstGeom>
        </p:spPr>
      </p:pic>
      <p:sp>
        <p:nvSpPr>
          <p:cNvPr id="34" name="Textfeld 33">
            <a:extLst>
              <a:ext uri="{FF2B5EF4-FFF2-40B4-BE49-F238E27FC236}">
                <a16:creationId xmlns:a16="http://schemas.microsoft.com/office/drawing/2014/main" id="{6409C1C6-A881-42A0-9A90-477FBDB24521}"/>
              </a:ext>
            </a:extLst>
          </p:cNvPr>
          <p:cNvSpPr txBox="1"/>
          <p:nvPr/>
        </p:nvSpPr>
        <p:spPr>
          <a:xfrm>
            <a:off x="2465535" y="2390866"/>
            <a:ext cx="7706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de-DE" sz="1000" i="1" dirty="0">
                <a:solidFill>
                  <a:srgbClr val="5F492A"/>
                </a:solidFill>
                <a:latin typeface="Century Gothic"/>
                <a:cs typeface="Century Gothic"/>
              </a:rPr>
              <a:t>Bremen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443DEBCD-3DBA-427B-ABB5-5C86142B9F7D}"/>
              </a:ext>
            </a:extLst>
          </p:cNvPr>
          <p:cNvSpPr txBox="1"/>
          <p:nvPr/>
        </p:nvSpPr>
        <p:spPr>
          <a:xfrm>
            <a:off x="5513578" y="2413516"/>
            <a:ext cx="5207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de-DE" sz="1000" i="1" dirty="0">
                <a:solidFill>
                  <a:srgbClr val="5F492A"/>
                </a:solidFill>
                <a:latin typeface="Century Gothic"/>
                <a:cs typeface="Century Gothic"/>
              </a:rPr>
              <a:t>Leer </a:t>
            </a:r>
          </a:p>
        </p:txBody>
      </p:sp>
      <p:pic>
        <p:nvPicPr>
          <p:cNvPr id="39" name="Grafik 38">
            <a:extLst>
              <a:ext uri="{FF2B5EF4-FFF2-40B4-BE49-F238E27FC236}">
                <a16:creationId xmlns:a16="http://schemas.microsoft.com/office/drawing/2014/main" id="{E44FB181-3935-4C4F-BFBF-A15B88D5D0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4141" y="1003224"/>
            <a:ext cx="2769218" cy="1412363"/>
          </a:xfrm>
          <a:prstGeom prst="rect">
            <a:avLst/>
          </a:prstGeom>
        </p:spPr>
      </p:pic>
      <p:sp>
        <p:nvSpPr>
          <p:cNvPr id="40" name="Textfeld 39">
            <a:extLst>
              <a:ext uri="{FF2B5EF4-FFF2-40B4-BE49-F238E27FC236}">
                <a16:creationId xmlns:a16="http://schemas.microsoft.com/office/drawing/2014/main" id="{F14C4465-5F28-423C-9BCA-0F029438E06A}"/>
              </a:ext>
            </a:extLst>
          </p:cNvPr>
          <p:cNvSpPr txBox="1"/>
          <p:nvPr/>
        </p:nvSpPr>
        <p:spPr>
          <a:xfrm>
            <a:off x="8011514" y="2426846"/>
            <a:ext cx="94184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de-DE" sz="1000" i="1" dirty="0">
                <a:solidFill>
                  <a:srgbClr val="5F492A"/>
                </a:solidFill>
                <a:latin typeface="Century Gothic"/>
                <a:cs typeface="Century Gothic"/>
              </a:rPr>
              <a:t>Shanghai</a:t>
            </a:r>
          </a:p>
        </p:txBody>
      </p:sp>
      <p:pic>
        <p:nvPicPr>
          <p:cNvPr id="41" name="Bild 4" descr="LibertyOne Logo_4c.jpg">
            <a:extLst>
              <a:ext uri="{FF2B5EF4-FFF2-40B4-BE49-F238E27FC236}">
                <a16:creationId xmlns:a16="http://schemas.microsoft.com/office/drawing/2014/main" id="{9F85989D-C30E-408E-B92F-EEABF40CE5D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8107" y="3980551"/>
            <a:ext cx="840179" cy="544185"/>
          </a:xfrm>
          <a:prstGeom prst="rect">
            <a:avLst/>
          </a:prstGeom>
        </p:spPr>
      </p:pic>
      <p:sp>
        <p:nvSpPr>
          <p:cNvPr id="43" name="Textfeld 42">
            <a:extLst>
              <a:ext uri="{FF2B5EF4-FFF2-40B4-BE49-F238E27FC236}">
                <a16:creationId xmlns:a16="http://schemas.microsoft.com/office/drawing/2014/main" id="{0B278D7B-7310-4074-8138-DE194C130F72}"/>
              </a:ext>
            </a:extLst>
          </p:cNvPr>
          <p:cNvSpPr txBox="1"/>
          <p:nvPr/>
        </p:nvSpPr>
        <p:spPr>
          <a:xfrm>
            <a:off x="617657" y="5045670"/>
            <a:ext cx="2940630" cy="135267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0083D0"/>
                </a:solidFill>
                <a:latin typeface="Century Gothic" panose="020B0502020202020204" pitchFamily="34" charset="0"/>
                <a:cs typeface="Century Gothic"/>
              </a:rPr>
              <a:t>Liberty One (Asia) Co., Ltd.</a:t>
            </a:r>
            <a:endParaRPr lang="de-DE" sz="900" b="1" dirty="0">
              <a:solidFill>
                <a:srgbClr val="0083D0"/>
              </a:solidFill>
              <a:latin typeface="Century Gothic" panose="020B0502020202020204" pitchFamily="34" charset="0"/>
              <a:cs typeface="Century Gothic"/>
            </a:endParaRPr>
          </a:p>
          <a:p>
            <a:r>
              <a:rPr lang="de-DE" sz="900" dirty="0">
                <a:solidFill>
                  <a:srgbClr val="5F492A"/>
                </a:solidFill>
                <a:latin typeface="Century Gothic" panose="020B0502020202020204" pitchFamily="34" charset="0"/>
                <a:cs typeface="Century Gothic"/>
              </a:rPr>
              <a:t>		</a:t>
            </a:r>
          </a:p>
          <a:p>
            <a:pPr algn="l"/>
            <a:r>
              <a:rPr lang="en-US" altLang="zh-CN" sz="900" b="0" i="0" u="none" strike="noStrike" dirty="0">
                <a:solidFill>
                  <a:srgbClr val="222222"/>
                </a:solidFill>
                <a:effectLst/>
                <a:latin typeface="Century Gothic" panose="020B0502020202020204" pitchFamily="34" charset="0"/>
                <a:ea typeface="宋体" panose="02010600030101010101" pitchFamily="2" charset="-122"/>
              </a:rPr>
              <a:t>Room 2315&amp;2316, Building A</a:t>
            </a:r>
          </a:p>
          <a:p>
            <a:pPr algn="l"/>
            <a:r>
              <a:rPr lang="en-US" altLang="zh-CN" sz="900" b="0" i="0" u="none" strike="noStrike" dirty="0">
                <a:solidFill>
                  <a:srgbClr val="222222"/>
                </a:solidFill>
                <a:effectLst/>
                <a:latin typeface="Century Gothic" panose="020B0502020202020204" pitchFamily="34" charset="0"/>
                <a:ea typeface="宋体" panose="02010600030101010101" pitchFamily="2" charset="-122"/>
              </a:rPr>
              <a:t>Greenland Meeting Center</a:t>
            </a:r>
            <a:endParaRPr lang="en-US" altLang="zh-CN" sz="900" b="0" i="0" u="none" strike="noStrike" dirty="0">
              <a:solidFill>
                <a:srgbClr val="201F1E"/>
              </a:solidFill>
              <a:effectLst/>
              <a:latin typeface="Century Gothic" panose="020B0502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900" b="0" i="0" u="none" strike="noStrike" dirty="0">
                <a:solidFill>
                  <a:srgbClr val="222222"/>
                </a:solidFill>
                <a:effectLst/>
                <a:latin typeface="Century Gothic" panose="020B0502020202020204" pitchFamily="34" charset="0"/>
                <a:ea typeface="宋体" panose="02010600030101010101" pitchFamily="2" charset="-122"/>
              </a:rPr>
              <a:t>No 500, </a:t>
            </a:r>
            <a:r>
              <a:rPr lang="en-US" altLang="zh-CN" sz="900" b="0" i="0" u="none" strike="noStrike" dirty="0" err="1">
                <a:solidFill>
                  <a:srgbClr val="222222"/>
                </a:solidFill>
                <a:effectLst/>
                <a:latin typeface="Century Gothic" panose="020B0502020202020204" pitchFamily="34" charset="0"/>
                <a:ea typeface="宋体" panose="02010600030101010101" pitchFamily="2" charset="-122"/>
              </a:rPr>
              <a:t>Yunjin</a:t>
            </a:r>
            <a:r>
              <a:rPr lang="en-US" altLang="zh-CN" sz="900" b="0" i="0" u="none" strike="noStrike" dirty="0">
                <a:solidFill>
                  <a:srgbClr val="222222"/>
                </a:solidFill>
                <a:effectLst/>
                <a:latin typeface="Century Gothic" panose="020B0502020202020204" pitchFamily="34" charset="0"/>
                <a:ea typeface="宋体" panose="02010600030101010101" pitchFamily="2" charset="-122"/>
              </a:rPr>
              <a:t> Road, Xuhui District</a:t>
            </a:r>
            <a:endParaRPr lang="en-US" altLang="zh-CN" sz="900" b="0" i="0" u="none" strike="noStrike" dirty="0">
              <a:solidFill>
                <a:srgbClr val="201F1E"/>
              </a:solidFill>
              <a:effectLst/>
              <a:latin typeface="Century Gothic" panose="020B0502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900" b="0" i="0" u="none" strike="noStrike" dirty="0">
                <a:solidFill>
                  <a:srgbClr val="222222"/>
                </a:solidFill>
                <a:effectLst/>
                <a:latin typeface="Century Gothic" panose="020B0502020202020204" pitchFamily="34" charset="0"/>
                <a:ea typeface="宋体" panose="02010600030101010101" pitchFamily="2" charset="-122"/>
              </a:rPr>
              <a:t>Shanghai, P.R. China, 200232</a:t>
            </a:r>
            <a:endParaRPr lang="en-US" altLang="zh-CN" sz="900" b="0" i="0" u="none" strike="noStrike" dirty="0">
              <a:solidFill>
                <a:srgbClr val="201F1E"/>
              </a:solidFill>
              <a:effectLst/>
              <a:latin typeface="Century Gothic" panose="020B0502020202020204" pitchFamily="34" charset="0"/>
              <a:ea typeface="宋体" panose="02010600030101010101" pitchFamily="2" charset="-122"/>
            </a:endParaRPr>
          </a:p>
          <a:p>
            <a:pPr algn="l"/>
            <a:r>
              <a:rPr lang="en-US" altLang="zh-CN" sz="900" b="0" i="0" u="none" strike="noStrike" dirty="0">
                <a:solidFill>
                  <a:srgbClr val="222222"/>
                </a:solidFill>
                <a:effectLst/>
                <a:latin typeface="Century Gothic" panose="020B0502020202020204" pitchFamily="34" charset="0"/>
                <a:ea typeface="宋体" panose="02010600030101010101" pitchFamily="2" charset="-122"/>
              </a:rPr>
              <a:t>Tel &amp; Fax: +86 21 6422 1552</a:t>
            </a:r>
          </a:p>
          <a:p>
            <a:pPr algn="l"/>
            <a:r>
              <a:rPr lang="en-US" altLang="zh-CN" sz="900" b="0" i="0" u="none" strike="noStrike" dirty="0">
                <a:solidFill>
                  <a:srgbClr val="222222"/>
                </a:solidFill>
                <a:effectLst/>
                <a:latin typeface="Century Gothic" panose="020B0502020202020204" pitchFamily="34" charset="0"/>
                <a:ea typeface="宋体" panose="02010600030101010101" pitchFamily="2" charset="-122"/>
              </a:rPr>
              <a:t>E</a:t>
            </a:r>
            <a:r>
              <a:rPr lang="en-US" altLang="zh-CN" sz="900" dirty="0">
                <a:solidFill>
                  <a:srgbClr val="222222"/>
                </a:solidFill>
                <a:latin typeface="Century Gothic" panose="020B0502020202020204" pitchFamily="34" charset="0"/>
                <a:ea typeface="宋体" panose="02010600030101010101" pitchFamily="2" charset="-122"/>
              </a:rPr>
              <a:t>mail: mail@liberty-aisa.biz</a:t>
            </a:r>
            <a:endParaRPr lang="en-US" altLang="zh-CN" sz="900" b="0" i="0" u="none" strike="noStrike" dirty="0">
              <a:solidFill>
                <a:srgbClr val="201F1E"/>
              </a:solidFill>
              <a:effectLst/>
              <a:latin typeface="Century Gothic" panose="020B0502020202020204" pitchFamily="34" charset="0"/>
              <a:ea typeface="宋体" panose="02010600030101010101" pitchFamily="2" charset="-122"/>
            </a:endParaRPr>
          </a:p>
          <a:p>
            <a:endParaRPr lang="de-DE" sz="900" dirty="0">
              <a:solidFill>
                <a:srgbClr val="5F492A"/>
              </a:solidFill>
              <a:latin typeface="Century Gothic"/>
              <a:cs typeface="Century Gothic"/>
            </a:endParaRP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CC08C697-BB54-48EF-85E3-323E41491C71}"/>
              </a:ext>
            </a:extLst>
          </p:cNvPr>
          <p:cNvSpPr txBox="1"/>
          <p:nvPr/>
        </p:nvSpPr>
        <p:spPr>
          <a:xfrm>
            <a:off x="617657" y="3031467"/>
            <a:ext cx="3741282" cy="1908023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F492A"/>
                </a:solidFill>
                <a:latin typeface="Century Gothic"/>
                <a:cs typeface="Century Gothic"/>
              </a:rPr>
              <a:t>Liberty One </a:t>
            </a:r>
            <a:r>
              <a:rPr lang="en-US" sz="900" b="1" dirty="0">
                <a:solidFill>
                  <a:srgbClr val="5F492A"/>
                </a:solidFill>
                <a:latin typeface="Century Gothic"/>
              </a:rPr>
              <a:t>Shipmanagement          </a:t>
            </a:r>
            <a:r>
              <a:rPr lang="de-DE" sz="900" b="1" dirty="0">
                <a:solidFill>
                  <a:srgbClr val="5F492A"/>
                </a:solidFill>
                <a:latin typeface="Century Gothic"/>
              </a:rPr>
              <a:t>Liberty One (Asia) </a:t>
            </a:r>
            <a:r>
              <a:rPr lang="de-DE" sz="900" b="1" dirty="0" err="1">
                <a:solidFill>
                  <a:srgbClr val="5F492A"/>
                </a:solidFill>
                <a:latin typeface="Century Gothic"/>
              </a:rPr>
              <a:t>Pte</a:t>
            </a:r>
            <a:r>
              <a:rPr lang="de-DE" sz="900" b="1" dirty="0">
                <a:solidFill>
                  <a:srgbClr val="5F492A"/>
                </a:solidFill>
                <a:latin typeface="Century Gothic"/>
              </a:rPr>
              <a:t>. Ltd. </a:t>
            </a:r>
            <a:endParaRPr lang="en-US" sz="900" b="1" dirty="0">
              <a:solidFill>
                <a:srgbClr val="5F492A"/>
              </a:solidFill>
              <a:latin typeface="Century Gothic"/>
            </a:endParaRPr>
          </a:p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5F492A"/>
                </a:solidFill>
                <a:latin typeface="Century Gothic"/>
                <a:cs typeface="Century Gothic"/>
              </a:rPr>
              <a:t>GmbH &amp; Co. K</a:t>
            </a:r>
            <a:r>
              <a:rPr lang="de-DE" sz="900" b="1" dirty="0">
                <a:solidFill>
                  <a:srgbClr val="5F492A"/>
                </a:solidFill>
                <a:latin typeface="Century Gothic"/>
                <a:cs typeface="Century Gothic"/>
              </a:rPr>
              <a:t>G</a:t>
            </a:r>
          </a:p>
          <a:p>
            <a:pPr>
              <a:lnSpc>
                <a:spcPct val="110000"/>
              </a:lnSpc>
            </a:pPr>
            <a:endParaRPr lang="de-DE" sz="900" dirty="0">
              <a:solidFill>
                <a:srgbClr val="5F492A"/>
              </a:solidFill>
              <a:latin typeface="Century Gothic"/>
              <a:cs typeface="Century Gothic"/>
            </a:endParaRPr>
          </a:p>
          <a:p>
            <a:pPr>
              <a:lnSpc>
                <a:spcPct val="110000"/>
              </a:lnSpc>
            </a:pPr>
            <a:r>
              <a:rPr lang="de-DE" sz="900" dirty="0">
                <a:solidFill>
                  <a:srgbClr val="5F492A"/>
                </a:solidFill>
                <a:latin typeface="Century Gothic"/>
              </a:rPr>
              <a:t>Domshof 22	       	                   500 </a:t>
            </a:r>
            <a:r>
              <a:rPr lang="de-DE" sz="900" dirty="0" err="1">
                <a:solidFill>
                  <a:srgbClr val="5F492A"/>
                </a:solidFill>
                <a:latin typeface="Century Gothic"/>
              </a:rPr>
              <a:t>Yunjin</a:t>
            </a:r>
            <a:r>
              <a:rPr lang="de-DE" sz="900" dirty="0">
                <a:solidFill>
                  <a:srgbClr val="5F492A"/>
                </a:solidFill>
                <a:latin typeface="Century Gothic"/>
              </a:rPr>
              <a:t> Road</a:t>
            </a:r>
            <a:br>
              <a:rPr lang="de-DE" sz="900" dirty="0">
                <a:solidFill>
                  <a:srgbClr val="5F492A"/>
                </a:solidFill>
                <a:latin typeface="Century Gothic"/>
                <a:cs typeface="Century Gothic"/>
              </a:rPr>
            </a:br>
            <a:r>
              <a:rPr lang="de-DE" sz="900" dirty="0">
                <a:solidFill>
                  <a:srgbClr val="5F492A"/>
                </a:solidFill>
                <a:latin typeface="Century Gothic"/>
                <a:cs typeface="Century Gothic"/>
              </a:rPr>
              <a:t>28195 </a:t>
            </a:r>
            <a:r>
              <a:rPr lang="de-DE" sz="900" dirty="0">
                <a:solidFill>
                  <a:srgbClr val="5F492A"/>
                </a:solidFill>
                <a:latin typeface="Century Gothic"/>
              </a:rPr>
              <a:t>Bremen                                      </a:t>
            </a:r>
            <a:r>
              <a:rPr lang="de-DE" sz="900" dirty="0" err="1">
                <a:solidFill>
                  <a:srgbClr val="5F492A"/>
                </a:solidFill>
                <a:latin typeface="Century Gothic"/>
              </a:rPr>
              <a:t>Xuhui</a:t>
            </a:r>
            <a:r>
              <a:rPr lang="de-DE" sz="900" dirty="0">
                <a:solidFill>
                  <a:srgbClr val="5F492A"/>
                </a:solidFill>
                <a:latin typeface="Century Gothic"/>
              </a:rPr>
              <a:t> </a:t>
            </a:r>
            <a:r>
              <a:rPr lang="de-DE" sz="900" dirty="0" err="1">
                <a:solidFill>
                  <a:srgbClr val="5F492A"/>
                </a:solidFill>
                <a:latin typeface="Century Gothic"/>
              </a:rPr>
              <a:t>District</a:t>
            </a:r>
            <a:r>
              <a:rPr lang="de-DE" sz="900" dirty="0">
                <a:solidFill>
                  <a:srgbClr val="5F492A"/>
                </a:solidFill>
                <a:latin typeface="Century Gothic"/>
              </a:rPr>
              <a:t> Shanghai	</a:t>
            </a:r>
            <a:r>
              <a:rPr lang="de-DE" sz="900" dirty="0">
                <a:solidFill>
                  <a:srgbClr val="5F492A"/>
                </a:solidFill>
                <a:latin typeface="Century Gothic"/>
                <a:cs typeface="Century Gothic"/>
              </a:rPr>
              <a:t>       		</a:t>
            </a:r>
          </a:p>
          <a:p>
            <a:pPr>
              <a:lnSpc>
                <a:spcPct val="110000"/>
              </a:lnSpc>
            </a:pPr>
            <a:r>
              <a:rPr lang="de-DE" sz="900" dirty="0">
                <a:solidFill>
                  <a:srgbClr val="5F492A"/>
                </a:solidFill>
                <a:latin typeface="Century Gothic"/>
                <a:cs typeface="Century Gothic"/>
              </a:rPr>
              <a:t>	</a:t>
            </a:r>
          </a:p>
          <a:p>
            <a:pPr>
              <a:lnSpc>
                <a:spcPct val="110000"/>
              </a:lnSpc>
            </a:pPr>
            <a:r>
              <a:rPr lang="de-DE" sz="900" dirty="0">
                <a:solidFill>
                  <a:srgbClr val="5F492A"/>
                </a:solidFill>
                <a:latin typeface="Century Gothic"/>
                <a:cs typeface="Century Gothic"/>
              </a:rPr>
              <a:t>Phone +49 421 178 795-0			</a:t>
            </a:r>
            <a:br>
              <a:rPr lang="de-DE" sz="900" dirty="0">
                <a:solidFill>
                  <a:srgbClr val="5F492A"/>
                </a:solidFill>
                <a:latin typeface="Century Gothic"/>
                <a:cs typeface="Century Gothic"/>
              </a:rPr>
            </a:br>
            <a:r>
              <a:rPr lang="de-DE" sz="900" dirty="0">
                <a:solidFill>
                  <a:srgbClr val="5F492A"/>
                </a:solidFill>
                <a:latin typeface="Century Gothic"/>
                <a:cs typeface="Century Gothic"/>
              </a:rPr>
              <a:t>info@liberty-one.biz</a:t>
            </a:r>
            <a:br>
              <a:rPr lang="de-DE" sz="900" dirty="0">
                <a:solidFill>
                  <a:srgbClr val="5F492A"/>
                </a:solidFill>
                <a:latin typeface="Century Gothic"/>
                <a:cs typeface="Century Gothic"/>
              </a:rPr>
            </a:br>
            <a:r>
              <a:rPr lang="de-DE" sz="900" dirty="0">
                <a:solidFill>
                  <a:srgbClr val="5F492A"/>
                </a:solidFill>
                <a:latin typeface="Century Gothic"/>
                <a:cs typeface="Century Gothic"/>
              </a:rPr>
              <a:t>www.liberty-one.biz</a:t>
            </a:r>
          </a:p>
          <a:p>
            <a:pPr>
              <a:lnSpc>
                <a:spcPct val="110000"/>
              </a:lnSpc>
            </a:pPr>
            <a:endParaRPr lang="de-DE" sz="900" dirty="0">
              <a:solidFill>
                <a:srgbClr val="5F492A"/>
              </a:solidFill>
              <a:latin typeface="Century Gothic"/>
              <a:cs typeface="Century Gothic"/>
            </a:endParaRPr>
          </a:p>
          <a:p>
            <a:pPr>
              <a:lnSpc>
                <a:spcPct val="110000"/>
              </a:lnSpc>
            </a:pPr>
            <a:endParaRPr lang="de-DE" sz="900" dirty="0">
              <a:solidFill>
                <a:srgbClr val="5F492A"/>
              </a:solidFill>
              <a:latin typeface="Century Gothic"/>
              <a:cs typeface="Century Gothic"/>
            </a:endParaRPr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57285AA6-02CE-4ADA-816C-EB51DAFA1C0C}"/>
              </a:ext>
            </a:extLst>
          </p:cNvPr>
          <p:cNvSpPr txBox="1"/>
          <p:nvPr/>
        </p:nvSpPr>
        <p:spPr>
          <a:xfrm>
            <a:off x="5371915" y="2869092"/>
            <a:ext cx="2816448" cy="136652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de-DE" sz="900" b="1" dirty="0">
                <a:solidFill>
                  <a:srgbClr val="D96B27"/>
                </a:solidFill>
                <a:latin typeface="Century Gothic"/>
                <a:cs typeface="Century Gothic"/>
              </a:rPr>
              <a:t>Liberty Pier GmbH</a:t>
            </a:r>
          </a:p>
          <a:p>
            <a:pPr>
              <a:lnSpc>
                <a:spcPct val="110000"/>
              </a:lnSpc>
            </a:pPr>
            <a:endParaRPr lang="de-DE" sz="900" dirty="0">
              <a:solidFill>
                <a:srgbClr val="5F492A"/>
              </a:solidFill>
              <a:latin typeface="Century Gothic"/>
              <a:cs typeface="Century Gothic"/>
            </a:endParaRPr>
          </a:p>
          <a:p>
            <a:r>
              <a:rPr lang="de-AT" sz="900" dirty="0">
                <a:solidFill>
                  <a:srgbClr val="5F492A"/>
                </a:solidFill>
                <a:latin typeface="Century Gothic"/>
                <a:cs typeface="Century Gothic"/>
              </a:rPr>
              <a:t>Domshof 22</a:t>
            </a:r>
          </a:p>
          <a:p>
            <a:r>
              <a:rPr lang="nl-NL" sz="900" dirty="0">
                <a:solidFill>
                  <a:srgbClr val="5F492A"/>
                </a:solidFill>
                <a:latin typeface="Century Gothic"/>
                <a:cs typeface="Century Gothic"/>
              </a:rPr>
              <a:t>28195 Bremen</a:t>
            </a:r>
            <a:r>
              <a:rPr lang="de-DE" sz="900" dirty="0">
                <a:solidFill>
                  <a:srgbClr val="5F492A"/>
                </a:solidFill>
                <a:latin typeface="Century Gothic"/>
                <a:cs typeface="Century Gothic"/>
              </a:rPr>
              <a:t>		</a:t>
            </a:r>
          </a:p>
          <a:p>
            <a:r>
              <a:rPr lang="de-DE" sz="900" dirty="0">
                <a:solidFill>
                  <a:srgbClr val="5F492A"/>
                </a:solidFill>
                <a:latin typeface="Century Gothic"/>
                <a:cs typeface="Century Gothic"/>
              </a:rPr>
              <a:t>	</a:t>
            </a:r>
          </a:p>
          <a:p>
            <a:r>
              <a:rPr lang="de-DE" sz="900" dirty="0">
                <a:solidFill>
                  <a:srgbClr val="5F492A"/>
                </a:solidFill>
                <a:latin typeface="Century Gothic"/>
                <a:cs typeface="Century Gothic"/>
              </a:rPr>
              <a:t>		</a:t>
            </a:r>
            <a:br>
              <a:rPr lang="de-DE" sz="900" dirty="0">
                <a:solidFill>
                  <a:srgbClr val="5F492A"/>
                </a:solidFill>
                <a:latin typeface="Century Gothic"/>
                <a:cs typeface="Century Gothic"/>
              </a:rPr>
            </a:br>
            <a:r>
              <a:rPr lang="de-DE" sz="900" dirty="0">
                <a:solidFill>
                  <a:srgbClr val="5F492A"/>
                </a:solidFill>
                <a:latin typeface="Century Gothic"/>
                <a:cs typeface="Century Gothic"/>
              </a:rPr>
              <a:t>Phone  +49 421 408 940-0		</a:t>
            </a:r>
            <a:br>
              <a:rPr lang="de-DE" sz="900" dirty="0">
                <a:solidFill>
                  <a:srgbClr val="5F492A"/>
                </a:solidFill>
                <a:latin typeface="Century Gothic"/>
                <a:cs typeface="Century Gothic"/>
              </a:rPr>
            </a:br>
            <a:r>
              <a:rPr lang="de-DE" sz="900" dirty="0">
                <a:solidFill>
                  <a:srgbClr val="5F492A"/>
                </a:solidFill>
                <a:latin typeface="Century Gothic"/>
                <a:cs typeface="Century Gothic"/>
              </a:rPr>
              <a:t>chartering@liberty-pier.com</a:t>
            </a:r>
            <a:br>
              <a:rPr lang="de-DE" sz="900" dirty="0">
                <a:solidFill>
                  <a:srgbClr val="5F492A"/>
                </a:solidFill>
                <a:latin typeface="Century Gothic"/>
                <a:cs typeface="Century Gothic"/>
              </a:rPr>
            </a:br>
            <a:r>
              <a:rPr lang="de-DE" sz="900" dirty="0">
                <a:solidFill>
                  <a:srgbClr val="5F492A"/>
                </a:solidFill>
                <a:latin typeface="Century Gothic"/>
                <a:cs typeface="Century Gothic"/>
              </a:rPr>
              <a:t>www.liberty-pier.com</a:t>
            </a:r>
          </a:p>
        </p:txBody>
      </p:sp>
      <p:pic>
        <p:nvPicPr>
          <p:cNvPr id="19" name="Picture 2" descr="Liberty Pier">
            <a:extLst>
              <a:ext uri="{FF2B5EF4-FFF2-40B4-BE49-F238E27FC236}">
                <a16:creationId xmlns:a16="http://schemas.microsoft.com/office/drawing/2014/main" id="{361B132C-0226-40E9-A8D9-D46C95F3C8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3362" y="3304179"/>
            <a:ext cx="902981" cy="559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6359C1A-0722-4CAC-1C04-6F5587A8E14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52857" y="5602793"/>
            <a:ext cx="770677" cy="65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714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00"/>
        </a:solidFill>
        <a:ln>
          <a:noFill/>
        </a:ln>
        <a:effectLst/>
      </a:spPr>
      <a:bodyPr rtlCol="0" anchor="ctr"/>
      <a:lstStyle>
        <a:defPPr algn="ctr">
          <a:defRPr sz="900" dirty="0" smtClean="0">
            <a:solidFill>
              <a:schemeClr val="tx1"/>
            </a:solidFill>
            <a:latin typeface="Century Gothic"/>
            <a:cs typeface="Century Gothic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0083FF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900" dirty="0" smtClean="0">
            <a:solidFill>
              <a:srgbClr val="5F492A"/>
            </a:solidFill>
            <a:latin typeface="Century Gothic"/>
            <a:cs typeface="Century Gothic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80b4ecb3-3d43-4f6b-bbc7-421215f87090" xsi:nil="true"/>
    <lcf76f155ced4ddcb4097134ff3c332f xmlns="80b4ecb3-3d43-4f6b-bbc7-421215f87090">
      <Terms xmlns="http://schemas.microsoft.com/office/infopath/2007/PartnerControls"/>
    </lcf76f155ced4ddcb4097134ff3c332f>
    <TaxCatchAll xmlns="641b5461-e16c-410a-aa34-3e00105b9c2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06812F865A3EB4D94A8E70A4632C2B6" ma:contentTypeVersion="19" ma:contentTypeDescription="Create a new document." ma:contentTypeScope="" ma:versionID="64803dd6efc6b468914fddf1ee2bf9a1">
  <xsd:schema xmlns:xsd="http://www.w3.org/2001/XMLSchema" xmlns:xs="http://www.w3.org/2001/XMLSchema" xmlns:p="http://schemas.microsoft.com/office/2006/metadata/properties" xmlns:ns2="80b4ecb3-3d43-4f6b-bbc7-421215f87090" xmlns:ns3="641b5461-e16c-410a-aa34-3e00105b9c20" targetNamespace="http://schemas.microsoft.com/office/2006/metadata/properties" ma:root="true" ma:fieldsID="dcd7f1aa93bd2fe70ca6b30ce4cedab4" ns2:_="" ns3:_="">
    <xsd:import namespace="80b4ecb3-3d43-4f6b-bbc7-421215f87090"/>
    <xsd:import namespace="641b5461-e16c-410a-aa34-3e00105b9c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  <xsd:element ref="ns2:_Flow_SignoffStatu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b4ecb3-3d43-4f6b-bbc7-421215f870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_Flow_SignoffStatus" ma:index="19" nillable="true" ma:displayName="Sign-off status" ma:internalName="Sign_x002d_off_x0020_status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5082484c-737d-497d-9f40-62a7e7af4fa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1b5461-e16c-410a-aa34-3e00105b9c20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53014d81-1768-46f0-a714-2b833fb63177}" ma:internalName="TaxCatchAll" ma:showField="CatchAllData" ma:web="641b5461-e16c-410a-aa34-3e00105b9c2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CD2593D-7337-45DE-A4FC-29717E9F9DA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A7A2A24-87FB-4D3B-824B-F0E38A407B0D}">
  <ds:schemaRefs>
    <ds:schemaRef ds:uri="80b4ecb3-3d43-4f6b-bbc7-421215f8709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641b5461-e16c-410a-aa34-3e00105b9c20"/>
  </ds:schemaRefs>
</ds:datastoreItem>
</file>

<file path=customXml/itemProps3.xml><?xml version="1.0" encoding="utf-8"?>
<ds:datastoreItem xmlns:ds="http://schemas.openxmlformats.org/officeDocument/2006/customXml" ds:itemID="{64650FE8-78A7-451A-A841-C9C83724DD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0b4ecb3-3d43-4f6b-bbc7-421215f87090"/>
    <ds:schemaRef ds:uri="641b5461-e16c-410a-aa34-3e00105b9c2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2800</TotalTime>
  <Words>2434</Words>
  <Application>Microsoft Office PowerPoint</Application>
  <PresentationFormat>On-screen Show (4:3)</PresentationFormat>
  <Paragraphs>474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微软雅黑</vt:lpstr>
      <vt:lpstr>Arial</vt:lpstr>
      <vt:lpstr>Calibri</vt:lpstr>
      <vt:lpstr>Century Gothic</vt:lpstr>
      <vt:lpstr>Wingdings</vt:lpstr>
      <vt:lpstr>Office-Design</vt:lpstr>
      <vt:lpstr>PowerPoint Presentation</vt:lpstr>
      <vt:lpstr>PowerPoint Presentation</vt:lpstr>
      <vt:lpstr>PowerPoint Presentation</vt:lpstr>
      <vt:lpstr>PowerPoint Presentation</vt:lpstr>
      <vt:lpstr>Liberty Group at a glance (One Stop Shopping)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Liberty One Asia Fleet - MPP</vt:lpstr>
      <vt:lpstr>Liberty One Asia Fleet - Container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Timo Schwalm</dc:creator>
  <cp:lastModifiedBy>Alison QIAN - Liberty One (Asia) Co., Ltd</cp:lastModifiedBy>
  <cp:revision>1023</cp:revision>
  <cp:lastPrinted>2020-04-09T15:50:07Z</cp:lastPrinted>
  <dcterms:created xsi:type="dcterms:W3CDTF">2015-02-24T08:34:08Z</dcterms:created>
  <dcterms:modified xsi:type="dcterms:W3CDTF">2025-08-22T07:49:50Z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0x010100406812F865A3EB4D94A8E70A4632C2B6</vt:lpwstr>
  </property>
  <property fmtid="{D5CDD505-2E9C-101B-9397-08002B2CF9AE}" pid="3" name="MediaServiceImageTags">
    <vt:lpwstr/>
  </property>
</Properties>
</file>